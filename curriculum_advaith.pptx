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3200400" cy="3200400"/>
          </a:xfrm>
          <a:prstGeom prst="ellipse">
            <a:avLst/>
          </a:prstGeom>
          <a:solidFill>
            <a:srgbClr val="2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114800"/>
            <a:ext cx="2286000" cy="2286000"/>
          </a:xfrm>
          <a:prstGeom prst="ellipse">
            <a:avLst/>
          </a:prstGeom>
          <a:solidFill>
            <a:srgbClr val="0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32918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NITW M&amp;C PREPARATION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CCCDD"/>
                </a:solidFill>
              </a:rPr>
              <a:t>2-Month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2-Month Curriculum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AA"/>
                </a:solidFill>
              </a:rPr>
              <a:t>Computing  ·  Math  ·  Python  ·  AI  ·  Quant Finance  ·  Software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66160"/>
            <a:ext cx="4572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99"/>
                </a:solidFill>
              </a:rPr>
              <a:t>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7490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99"/>
                </a:solidFill>
              </a:rPr>
              <a:t>TEACHER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977639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7490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99"/>
                </a:solidFill>
              </a:rPr>
              <a:t>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77639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7490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99"/>
                </a:solidFill>
              </a:rPr>
              <a:t>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977639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11 + Capstone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834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⚽  🏀  📊  🤖  📈  🏗️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80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99"/>
                </a:solidFill>
              </a:rPr>
              <a:t>Taught by Teacher ·  Built for NITW M&amp;C  ·  Starting from zero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This Curriculum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⏱️  Two months of structured learning — one dedicated session at a time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👨‍🏫  Teacher teaches every session. Student practices independently after each.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🎯  Goal: arrive at NITW M&amp;C with genuine understanding, not surface familiarity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🧱  Builds from zero — no prior coding knowledge assumed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⚽🏀  Basketball and soccer woven into every session as the primary examples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🏆  Ends with a real, working capstone project Student presents himself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Student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📚 Starting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Just finished 12th PCM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Loves math — scored well, genuinely enjoyed it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Strong in calculus, vectors, probability, stats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Never written a line of code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Zero programming experience — blank slate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🎯 By the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Can write and explain Python programs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Understands how AI works at a mathematical level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Has built a working AI-powered sports analytics tool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Knows the full software engineering landscape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Ready for NITW M&amp;C from day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Every Session Has the Same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🎬  HOOK — Teacher opens with a story or demo that creates a question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📖  EXPLAIN — Teacher walks through the concept live, no slides-only lectures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🔧  DEMO — Teacher runs real code or a visualisation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🤝  PRACTICE — Teacher and Student build it together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⚡  WOW — the moment everything clicks into place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📝  HOMEWORK — Student continues independently before the next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Rule: no session starts with 'today we learn X'. Every session starts with something that makes Student want to understand 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Full Journey — 11 Sessions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30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298448"/>
            <a:ext cx="420624" cy="31089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298448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30759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🕰️  History of Computing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298448"/>
            <a:ext cx="420624" cy="31089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1298448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130759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Building Blocks — CPU to GPU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773936"/>
            <a:ext cx="420624" cy="31089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773936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78308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🌐  How the Web 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773936"/>
            <a:ext cx="420624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773936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178308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🔢  Maths for Computing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249424"/>
            <a:ext cx="420624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249424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25856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🌍  Programming Languages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2249424"/>
            <a:ext cx="420624" cy="31089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2249424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225856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🐍  Python — Math with Superpowers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2724912"/>
            <a:ext cx="420624" cy="31089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724912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273405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🧠  Math &amp; Stats for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724912"/>
            <a:ext cx="420624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2724912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273405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🤖  Agentic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3200400"/>
            <a:ext cx="420624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320040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20954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📈  Quant Finance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3200400"/>
            <a:ext cx="420624" cy="31089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5352" y="320040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320954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🏆  Capstone Project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3675888"/>
            <a:ext cx="420624" cy="3108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3675888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368503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🏗️  Software Engineering Landscape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45352" y="3675888"/>
            <a:ext cx="420624" cy="310896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2" y="3675888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9128" y="368503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📸  How Instagram 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8-Week Learning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1170432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00200" y="1371600"/>
            <a:ext cx="54864" cy="521208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517904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1051560" cy="32918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44475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History + Hardware +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71907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Sessions 1, 1.1, 1.2  ·  No coding yet — just understanding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2169414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096262"/>
            <a:ext cx="1051560" cy="32918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09626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09626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Maths + Languages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37058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Sessions 2 &amp; 3  ·  Caesar cipher, passing networks, Fibonacci</a:t>
            </a:r>
          </a:p>
        </p:txBody>
      </p:sp>
      <p:sp>
        <p:nvSpPr>
          <p:cNvPr id="16" name="Oval 15"/>
          <p:cNvSpPr/>
          <p:nvPr/>
        </p:nvSpPr>
        <p:spPr>
          <a:xfrm>
            <a:off x="1463040" y="2820924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47772"/>
            <a:ext cx="1051560" cy="32918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74777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74777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Python — First Half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02209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Session 4 (part 1)  ·  Waves, guessing game</a:t>
            </a:r>
          </a:p>
        </p:txBody>
      </p:sp>
      <p:sp>
        <p:nvSpPr>
          <p:cNvPr id="21" name="Oval 20"/>
          <p:cNvSpPr/>
          <p:nvPr/>
        </p:nvSpPr>
        <p:spPr>
          <a:xfrm>
            <a:off x="1463040" y="3472434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399282"/>
            <a:ext cx="1051560" cy="32918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39928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39928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Python — Second Half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67360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Session 4 (part 2)  ·  NBA charts, dice, law of large numbers</a:t>
            </a:r>
          </a:p>
        </p:txBody>
      </p:sp>
      <p:sp>
        <p:nvSpPr>
          <p:cNvPr id="26" name="Oval 25"/>
          <p:cNvSpPr/>
          <p:nvPr/>
        </p:nvSpPr>
        <p:spPr>
          <a:xfrm>
            <a:off x="1463040" y="4123944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050792"/>
            <a:ext cx="1051560" cy="32918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05079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Wk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05079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Math &amp; Stats for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32511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Session 5  ·  Vectors, gradient descent, xG model</a:t>
            </a:r>
          </a:p>
        </p:txBody>
      </p:sp>
      <p:sp>
        <p:nvSpPr>
          <p:cNvPr id="31" name="Oval 30"/>
          <p:cNvSpPr/>
          <p:nvPr/>
        </p:nvSpPr>
        <p:spPr>
          <a:xfrm>
            <a:off x="1463040" y="4775454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702302"/>
            <a:ext cx="1051560" cy="32918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70230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Wk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470230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Agentic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497662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Session 6  ·  Build the sports analyst agent</a:t>
            </a:r>
          </a:p>
        </p:txBody>
      </p:sp>
      <p:sp>
        <p:nvSpPr>
          <p:cNvPr id="36" name="Oval 35"/>
          <p:cNvSpPr/>
          <p:nvPr/>
        </p:nvSpPr>
        <p:spPr>
          <a:xfrm>
            <a:off x="1463040" y="5426964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5353812"/>
            <a:ext cx="1051560" cy="32918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35381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Wk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35381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Quant Finance + SE Landscape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62813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Sessions 7 &amp; 9  ·  Man United stock, 2010→2026 map</a:t>
            </a:r>
          </a:p>
        </p:txBody>
      </p:sp>
      <p:sp>
        <p:nvSpPr>
          <p:cNvPr id="41" name="Oval 40"/>
          <p:cNvSpPr/>
          <p:nvPr/>
        </p:nvSpPr>
        <p:spPr>
          <a:xfrm>
            <a:off x="1463040" y="6078474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6005322"/>
            <a:ext cx="1051560" cy="32918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600532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Wk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600532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Capstone + Instagram Deep Dive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627964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Sessions 8 &amp; 10  ·  Build day + how Instagram really 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229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FF5974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</a:rPr>
              <a:t>🕰️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History of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</a:rPr>
              <a:t>The Greatest Heist in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685800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"The first programmer was a woman in 1843.
The machine she programmed didn't exist yet."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94560"/>
                </a:solidFill>
              </a:rPr>
              <a:t>Session 1 — History of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Ada Lovelace — The First Programmer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👩‍💻  Charles Babbage designed the Difference Engine in the 1830s — a mechanical calculator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📝  Ada Lovelace wrote an algorithm for it in 1843 — for a machine that wasn't finished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🧮  Her algorithm computed Bernoulli numbers — a real mathematical sequence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💡  She saw that the machine could do more than arithmetic — it could manipulate symbols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🏆  She is recognised as the world's first computer programmer — 100 years before computers existed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Teacher: 'She wrote an algorithm for a machine that didn't fully exist yet. What does that tell you about the relationship between ideas and technology?'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94560"/>
                </a:solidFill>
              </a:rPr>
              <a:t>Session 1 — History of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Alan Turing — The Greatest Codebreaker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🔐  World War 2: Nazi Germany used the Enigma machine to encrypt all military communications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🖥️  Turing built the Bombe machine — cracked Enigma, turning the tide of the war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📊  Historians estimate he shortened the war by 2 years and saved 14 million lives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🤔  He asked: 'Can machines think?' — invented the theoretical Turing Machine (basis of all computing)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💔  After the war, the British government prosecuted him for being gay. He died at 41.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🌍  The Imitation Game (2014 film) tells his story. the student's homework: watch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Session 1 — History of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Machines Arrive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170432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371600"/>
            <a:ext cx="54864" cy="521208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1517904"/>
            <a:ext cx="292608" cy="29260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1051560" cy="32918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4475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44475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ENIAC — First General-Purpose Computer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71907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Filled a room · 30 tonnes · 18,000 vacuum tubes · 5,000 additions/second</a:t>
            </a:r>
          </a:p>
        </p:txBody>
      </p:sp>
      <p:sp>
        <p:nvSpPr>
          <p:cNvPr id="12" name="Oval 11"/>
          <p:cNvSpPr/>
          <p:nvPr/>
        </p:nvSpPr>
        <p:spPr>
          <a:xfrm>
            <a:off x="1463040" y="2560320"/>
            <a:ext cx="292608" cy="29260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487168"/>
            <a:ext cx="1051560" cy="32918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48716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487168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Transistor Invented at Bell 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761488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Silicon switch replaces vacuum tubes · Smaller, faster, reliable</a:t>
            </a:r>
          </a:p>
        </p:txBody>
      </p:sp>
      <p:sp>
        <p:nvSpPr>
          <p:cNvPr id="17" name="Oval 16"/>
          <p:cNvSpPr/>
          <p:nvPr/>
        </p:nvSpPr>
        <p:spPr>
          <a:xfrm>
            <a:off x="1463040" y="3602736"/>
            <a:ext cx="292608" cy="29260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529584"/>
            <a:ext cx="1051560" cy="32918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529584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529584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Integrated Circuit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803904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Thousands of transistors on one chip · Moore's Law begins</a:t>
            </a:r>
          </a:p>
        </p:txBody>
      </p:sp>
      <p:sp>
        <p:nvSpPr>
          <p:cNvPr id="22" name="Oval 21"/>
          <p:cNvSpPr/>
          <p:nvPr/>
        </p:nvSpPr>
        <p:spPr>
          <a:xfrm>
            <a:off x="1463040" y="4645152"/>
            <a:ext cx="292608" cy="29260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572000"/>
            <a:ext cx="1051560" cy="32918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572000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572000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Moore's Law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8463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Gordon Moore: transistors double every ~2 years · Held for 60 years</a:t>
            </a:r>
          </a:p>
        </p:txBody>
      </p:sp>
      <p:sp>
        <p:nvSpPr>
          <p:cNvPr id="27" name="Oval 26"/>
          <p:cNvSpPr/>
          <p:nvPr/>
        </p:nvSpPr>
        <p:spPr>
          <a:xfrm>
            <a:off x="1463040" y="5687568"/>
            <a:ext cx="292608" cy="29260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614416"/>
            <a:ext cx="1051560" cy="32918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614416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614416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Intel 4004 — First Microprocessor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88736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CPU on a single chip · Paved the way for personal computers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Session 1 — History of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World Shrinks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170432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371600"/>
            <a:ext cx="54864" cy="521208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1517904"/>
            <a:ext cx="292608" cy="29260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1051560" cy="32918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4475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44475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Apple II — Personal Computer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71907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Computers leave corporations · Enter homes · Steve Jobs, Steve Wozniak</a:t>
            </a:r>
          </a:p>
        </p:txBody>
      </p:sp>
      <p:sp>
        <p:nvSpPr>
          <p:cNvPr id="12" name="Oval 11"/>
          <p:cNvSpPr/>
          <p:nvPr/>
        </p:nvSpPr>
        <p:spPr>
          <a:xfrm>
            <a:off x="1463040" y="2560320"/>
            <a:ext cx="292608" cy="29260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487168"/>
            <a:ext cx="1051560" cy="32918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48716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487168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Apple Macintosh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761488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Mouse + windows + icons · Made computers human · 1984 ad is legendary</a:t>
            </a:r>
          </a:p>
        </p:txBody>
      </p:sp>
      <p:sp>
        <p:nvSpPr>
          <p:cNvPr id="17" name="Oval 16"/>
          <p:cNvSpPr/>
          <p:nvPr/>
        </p:nvSpPr>
        <p:spPr>
          <a:xfrm>
            <a:off x="1463040" y="3602736"/>
            <a:ext cx="292608" cy="29260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529584"/>
            <a:ext cx="1051560" cy="32918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529584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529584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World Wide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803904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Tim Berners-Lee invents HTML + HTTP + URLs · Gave it away for free</a:t>
            </a:r>
          </a:p>
        </p:txBody>
      </p:sp>
      <p:sp>
        <p:nvSpPr>
          <p:cNvPr id="22" name="Oval 21"/>
          <p:cNvSpPr/>
          <p:nvPr/>
        </p:nvSpPr>
        <p:spPr>
          <a:xfrm>
            <a:off x="1463040" y="4645152"/>
            <a:ext cx="292608" cy="29260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572000"/>
            <a:ext cx="1051560" cy="32918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572000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572000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Google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8463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Algorithm ranks web pages by importance · PageRank = graph centrality</a:t>
            </a:r>
          </a:p>
        </p:txBody>
      </p:sp>
      <p:sp>
        <p:nvSpPr>
          <p:cNvPr id="27" name="Oval 26"/>
          <p:cNvSpPr/>
          <p:nvPr/>
        </p:nvSpPr>
        <p:spPr>
          <a:xfrm>
            <a:off x="1463040" y="5687568"/>
            <a:ext cx="292608" cy="29260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614416"/>
            <a:ext cx="1051560" cy="32918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614416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614416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iPhone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88736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'An iPod, a phone, and an internet communicator' · The computer becomes personal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Session 1 — History of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Two Revolutions Converge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🤖 The AI Revolution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2012: AlexNet wins ImageNet — deep learning works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2017: 'Attention Is All You Need' — Transformers invented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2020: GPT-3 — scale changes everything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2022: ChatGPT — 1 million users in 5 days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2025: AI agents take autonomous 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⚽🏀 The Sports Analytics Revolution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2002: Moneyball — Oakland A's use stats to win on half the payroll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2012: Daryl Morey proves mid-range shots are the worst shot in basketball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2015: Every NBA team installs player-tracking cameras (Second Spectrum)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2018: StatsBomb xG model changes how football is analysed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Today: Every top club has a data science team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Computing &amp; Sports Analytics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Research 5 computing milestones (Teacher provides starting points)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Research 5 sports analytics milestones (Student finds these)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For each: write what happened + why it mattered (1 sentence each)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Present the sports milestones to Teacher — explain each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10-row table: half computing, half sports. Student presents his 5 sports milestones aloud.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Moneyball · NBA 3-point revolution · xG in football · GPS vests in 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229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FF5974"/>
                </a:solidFill>
              </a:rPr>
              <a:t>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SESSION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Building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</a:rPr>
              <a:t>What's Actually Inside the Box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685800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"There are 19 billion transistors in an Apple M3 chip.
Each one is 3 nanometres wide. A hair is 80,000nm."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94560"/>
                </a:solidFill>
              </a:rPr>
              <a:t>Session 1.1 —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Transistor — It All Starts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💡  A transistor is a switch made of silicon — it has two states: ON (1) and OFF (0)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🔋  Stack millions of switches together → represent any number in binary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📦  Stack binary numbers together → represent any instruction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📱  Stack billions of instructions → run Instagram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🦠  A Covid virus is ~100 nanometres. Apple M3 transistors are 3nm. Smaller by 33×.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📊  Your phone has more computing power than NASA had for the entire Apollo programme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Teacher: show the electron microscope die shot of an Apple M3 chip. Let it land silently for 5 seconds.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Session 1.1 —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Three Gates That Run the World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1170432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6949440" cy="5166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82296" cy="5166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08760"/>
            <a:ext cx="66751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250">
                <a:solidFill>
                  <a:srgbClr val="CDD6F4"/>
                </a:solidFill>
                <a:latin typeface="Courier New"/>
              </a:rPr>
              <a:t>def AND(a, b):  return a and b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def OR(a, b):   return a or b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def NOT(a):     return not a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# Test them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AND(1, 1)  →  True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AND(1, 0)  →  False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OR(1, 0)   →  True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OR(0, 0)   →  False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NOT(1)     →  False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NOT(0)     → 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24927" y="1389888"/>
            <a:ext cx="4462272" cy="5166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24927" y="1389888"/>
            <a:ext cx="82296" cy="5166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46304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Every decision a computer makes — every if/else in every app ever written — reduces to these three operations.
AND, OR, NOT are Boolean algebra.
Student already knows this from 12th-grade set theory:
AND = ∩
OR = ∪
NOT = complement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94560"/>
                </a:solidFill>
              </a:rPr>
              <a:t>Session 1.1 —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a CPU Works — The Fetch-Decode-Execute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1️⃣  FETCH — Get the next instruction from memory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2️⃣  DECODE — Figure out what the instruction means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3️⃣  EXECUTE — Do it: add numbers, store a value, jump to an address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🔁  Repeat billions of times per second (clock speed = GHz = billion cycles/sec)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🧮  ALU (Arithmetic Logic Unit) — the part that does the actual math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💾  Memory hierarchy: Registers → Cache → RAM → SSD (fastest to slowest, smallest to largest)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Analogy: a chef reading a recipe (fetch), understanding a step (decode), chopping the onion (execute) — 3 billion times a second.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Session 1.1 —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CPU vs GPU — Why AI Needs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5577840" cy="43891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90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🏀 CPU — The Superstar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9339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500">
                <a:solidFill>
                  <a:srgbClr val="EE8888"/>
                </a:solidFill>
              </a:rPr>
              <a:t>✗  8–16 powerful cores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Can handle any complex task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Switches context instantly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Best for sequential tasks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Like LeBron James — brilliant at everything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One thing at a time, incredibly well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557784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490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⚽ GPU — The Full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99339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500">
                <a:solidFill>
                  <a:srgbClr val="88EEAA"/>
                </a:solidFill>
              </a:rPr>
              <a:t>✓  Thousands of small parallel cores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NVIDIA H100: 16,896 CUDA cores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All cores run simultaneously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Best for matrix multiplication at scale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Like 11 footballers executing a set play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GPT-4 trained on 25,000+ GPUs for months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Logic Gates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Open labs/logic_gates.py and run it as-is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Predict each output BEFORE running — write your guess first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Part 2: print truth tables for AND and OR (all 4 combinations)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Part 3: build XOR from AND + OR + NOT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5.  Challenge: add NAND and NOR gates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Working logic gate functions + printed truth tables.
Challenge: NAND and NOR with their own truth tables.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CPU = LeBron · GPU = Barcelona pressing — same concept, different tools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229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FF5974"/>
                </a:solidFill>
              </a:rPr>
              <a:t>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SESSION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How the Web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</a:rPr>
              <a:t>50 Things Happen in Half a Second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685800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"What actually happens when you type youtube.com and press Enter?
There are 8 distinct steps — none of them magic."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94560"/>
                </a:solidFill>
              </a:rPr>
              <a:t>Session 1.2 — How the Web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1 &amp; 2 — Find the Server and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🗺️  DNS (Domain Name System) — converts 'youtube.com' → '142.250.80.46'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📖  DNS is the internet's phone book — human names mapped to numeric addresses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🔢  Every device on the internet has an IP address — its true identity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📞  TCP — your browser and the server 'pick up the phone' — agree to talk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🔒  HTTPS = encrypted TCP — both sides agree on a secret code before speaking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🔐  The padlock in your browser means nobody can eavesdrop on this conversation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Ask Student: 'What's your phone number in this analogy?' Answer: your device's IP address.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Session 1.2 — How the Web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3 &amp; 4 — Asking and Answering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1170432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6949440" cy="5166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82296" cy="5166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08760"/>
            <a:ext cx="66751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250">
                <a:solidFill>
                  <a:srgbClr val="CDD6F4"/>
                </a:solidFill>
                <a:latin typeface="Courier New"/>
              </a:rPr>
              <a:t># The REQUEST your browser sends: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GET /home HTTP/1.1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Host: youtube.com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User-Agent: Chrome/120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Accept: text/html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# The RESPONSE the server sends back: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HTTP/1.1 200 OK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Content-Type: text/html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&lt;!DOCTYPE html&gt;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&lt;html&gt;...the page...&lt;/html&gt;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7424927" y="1389888"/>
            <a:ext cx="4462272" cy="5166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24927" y="1389888"/>
            <a:ext cx="82296" cy="5166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46304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Status codes:
200 = OK, here you go
301 = Moved, go here instead
404 = Not found
403 = Forbidden
500 = Server crashed
Methods:
GET = fetch something
POST = send data
DELETE = remove something
PUT = update something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Session 1.2 — How the Web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5 — Building the Page: Three Languages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🦴 HTML — The Skeleton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Defines structure and content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&lt;h1&gt; headings, &lt;p&gt; paragraphs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&lt;table&gt; for data tables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&lt;a&gt; for links, &lt;img&gt; for images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The browser reads this and knows what exists on the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👗 CSS — The Style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Controls how everything looks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Colours, fonts, sizes, spacing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background-color: #1a1a2e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The dark theme on the student's sports page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JavaScript — the muscles: makes things interactive and dynamic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Session 1.2 — How the Web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APIs — Apps Talking to Apps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1170432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6949440" cy="5166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82296" cy="5166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08760"/>
            <a:ext cx="66751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250">
                <a:solidFill>
                  <a:srgbClr val="CDD6F4"/>
                </a:solidFill>
                <a:latin typeface="Courier New"/>
              </a:rPr>
              <a:t># What an API response looks like (JSON):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{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"player": "Vinícius Jr",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"goals": 24,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"assists": 11,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"club": "Real Madrid",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"xG": 18.3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}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# Your sports_analyst.py does this: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client.messages.create(...)  # API call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# Returns JSON → Python dict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424927" y="1389888"/>
            <a:ext cx="4462272" cy="5166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24927" y="1389888"/>
            <a:ext cx="82296" cy="5166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46304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An API is a server that returns data (JSON) instead of a webpage.
When Instagram loads your feed, it makes dozens of API calls:
• one for posts
• one for stories
• one for suggested accounts
• one for ads
JavaScript assembles the JSON responses into what you see.
The UI is just a rendering of API data.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First Webpage + Spy on the Internet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Open labs/my_sports_page.html in VS Code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Replace all players with the student's actual favourites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Change colours to a favourite team's hex code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Add a third section (match results or anything sports)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5.  Open Chrome DevTools → Network tab → refresh Instagram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6.  Find one API/XHR call and look at the JSON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personalised sports webpage AND
a screenshot of DevTools showing live API calls.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Sports page has soccer + basketball tables · DevTools shows how ESPN or the NBA app fetches live scores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229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9A4E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Maths for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</a:rPr>
              <a:t>Math Is the Operating System of Reality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6858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"You've been doing computing math your whole life.
You just didn't know the names."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Session 2 — Maths for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Number Systems — Why Computers Count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🔟  Humans use decimal (base-10) — because we have 10 fingers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⚡  Computers use binary (base-2) — because transistors have 2 states: on/off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📐  Each binary digit (bit) is a power of 2: 1, 2, 4, 8, 16, 32, 64...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🔢  Decimal 13 = 8+4+1 = 1101 in binary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🎨  Hexadecimal (base-16) — used in colours: #e94560 = red 233, green 69, blue 96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💻  Every photo, video, text message is binary under the hood — just 1s and 0s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Hex shortcut: every pair of hex digits = one byte = 0-255. #ff0000 = pure red (255, 0, 0).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Session 2 — Maths for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Boolean Algebra = Set Theory You Already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557784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90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📚 12th Grade Set 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9339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500">
                <a:solidFill>
                  <a:srgbClr val="EE8888"/>
                </a:solidFill>
              </a:rPr>
              <a:t>✗  A ∩ B  — intersection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A ∪ B  — union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A'      — complement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De Morgan: (A ∩ B)' = A' ∪ B'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De Morgan: (A ∪ B)' = A' ∩ B'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Venn diagrams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5577840" cy="43891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490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💻 Boolean Algebra in Computing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99339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500">
                <a:solidFill>
                  <a:srgbClr val="88EEAA"/>
                </a:solidFill>
              </a:rPr>
              <a:t>✓  A AND B  — both must be true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A OR B   — at least one must be true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NOT A    — flip the value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NOT(AND(A,B)) = OR(NOT(A), NOT(B))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NOT(OR(A,B))  = AND(NOT(A), NOT(B))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Logic gate circuits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Session 2 — Maths for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Big-O — How Algorithms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📏  Big-O describes how runtime grows as input size (n) grows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🟢  O(1) — Constant: array lookup by index. Always instant. n doesn't matter.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🟡  O(log n) — Logarithmic: binary search. 1 billion records → 30 guesses.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🟠  O(n) — Linear: scan a list once. Double the list → double the time.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🔴  O(n²) — Quadratic: compare every pair. 10× input → 100× time. Dangerous.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💥  O(2ⁿ) — Exponential: brute-force chess. Grows impossibly fast.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Binary search is O(log n): 1,000 items → 10 guesses · 1,000,000 items → 20 guesses · 1 billion items → 30 guesses. Doubling the input costs ONE extra guess.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Session 2 — Maths for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Graph Theory — The Math of Networks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🕸️  A graph = nodes (vertices) connected by edges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🔢  Degree = how many connections a node has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📍  Path = a route from one node to another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⚡  Shortest path = fastest route (Dijkstra's algorithm, 1956)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🏆  Centrality = how 'important' a node is — how many paths pass through it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📱  Google Maps, social networks, the web, passing networks in football — all graphs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Teacher: 'Google's PageRank algorithm that made them $100B is betweenness centrality on the web's link graph. Invented in 1956, used for billions of searches today.'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Session 2 — Maths for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Graph Theory in the Real World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🗺️ Dijkstra's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Written in 20 minutes in an Amsterdam café, 1956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Edsger Dijkstra had no pen and paper — did it in his head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Waited 3 years to publish — thought it was trivial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Now runs in Google Maps millions of times per second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Every GPS navigation uses this algorithm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One of the most used algorithms in existence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⚽ Football Passing 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Players = nodes, passes = edges, pass count = weight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Centrality reveals the team's key playmaker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Xavi: highest centrality in Barcelona's tiki-taka system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Remove high-centrality player → team flow collapses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Same math as Google PageRank and social network analysis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Clubs pay for this analysis in real scouting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2 — Lab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Secret Message Machine — Caesar Cipher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Open labs/caesar_cipher.py — run it and study the output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Understand how ord() and chr() convert letters to numbers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Encrypt 'MESSI IS GOAT' with shift=3 — predict output first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Decrypt the result back — verify you get the original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5.  Send Teacher an encrypted message — see if he can decode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encrypt() and decrypt() functions working.
Send Teacher a real secret message.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Encrypt 'ADVAITH WILL ACE NITW' and send it to Teacher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2 — Lab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Barcelona Passing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Open labs/passing_network.py — install networkx first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Run Part 1: build the graph from the passing data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Run Part 2: calculate betweenness centrality for all players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Run Part 3: visualise the network — save the chart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5.  Remove Xavi from the data and re-run. Who becomes central now?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visualised passing network chart saved as an image.
Centrality ranking printed. Discussion: what does it mean tactically?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Who is Barcelona's most important player mathematically? Does it match your intuition?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229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9A4E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SESSION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Programming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</a:rPr>
              <a:t>The Family Tree of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6858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"Every programming language was invented to solve someone's frustration.
Here's the 70-year drama."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Session 3 — Programming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Language Family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17043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371600"/>
            <a:ext cx="54864" cy="521208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1517904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105156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4475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44475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FORTRAN — IBM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71907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Scientists wanted to write math, not binary · 'Formula Translation'</a:t>
            </a:r>
          </a:p>
        </p:txBody>
      </p:sp>
      <p:sp>
        <p:nvSpPr>
          <p:cNvPr id="12" name="Oval 11"/>
          <p:cNvSpPr/>
          <p:nvPr/>
        </p:nvSpPr>
        <p:spPr>
          <a:xfrm>
            <a:off x="1463040" y="2386584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313432"/>
            <a:ext cx="105156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31343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31343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 — Bell 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58775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Dennis Ritchie needed a language to write Unix · Direct hardware control</a:t>
            </a:r>
          </a:p>
        </p:txBody>
      </p:sp>
      <p:sp>
        <p:nvSpPr>
          <p:cNvPr id="17" name="Oval 16"/>
          <p:cNvSpPr/>
          <p:nvPr/>
        </p:nvSpPr>
        <p:spPr>
          <a:xfrm>
            <a:off x="1463040" y="3255264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182112"/>
            <a:ext cx="105156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18211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18211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C++ — Bjarne Stroustrup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45643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C + objects · Organise code around real-world things</a:t>
            </a:r>
          </a:p>
        </p:txBody>
      </p:sp>
      <p:sp>
        <p:nvSpPr>
          <p:cNvPr id="22" name="Oval 21"/>
          <p:cNvSpPr/>
          <p:nvPr/>
        </p:nvSpPr>
        <p:spPr>
          <a:xfrm>
            <a:off x="1463040" y="4123944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050792"/>
            <a:ext cx="105156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05079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05079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Python — Guido van Rossum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32511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Written over Christmas · Named after Monty Python · Built to be fun</a:t>
            </a:r>
          </a:p>
        </p:txBody>
      </p:sp>
      <p:sp>
        <p:nvSpPr>
          <p:cNvPr id="27" name="Oval 26"/>
          <p:cNvSpPr/>
          <p:nvPr/>
        </p:nvSpPr>
        <p:spPr>
          <a:xfrm>
            <a:off x="1463040" y="4992624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919472"/>
            <a:ext cx="105156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91947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1995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91947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Java — Sun Microsystems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19379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Write once, run anywhere · Runs on a JVM · Dominates enterprise</a:t>
            </a:r>
          </a:p>
        </p:txBody>
      </p:sp>
      <p:sp>
        <p:nvSpPr>
          <p:cNvPr id="32" name="Oval 31"/>
          <p:cNvSpPr/>
          <p:nvPr/>
        </p:nvSpPr>
        <p:spPr>
          <a:xfrm>
            <a:off x="1463040" y="5861304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5788152"/>
            <a:ext cx="105156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78815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78815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JavaScript — Brendan Eich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606247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Written in 10 days for Netscape · Now runs servers too (Node.js)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Session 3 — Programming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Python Dominates AI and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📖  Readable — code reads almost like English. Researchers share it openly.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📦  Libraries — NumPy (1995), Pandas (2008), PyTorch (2016). Built for Python first.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🌐  Community — AI research standardised on Python. All papers have Python code.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⚡  Fast enough — NumPy runs in C under the hood. Python is the interface, not the bottleneck.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🎓  Guido's rule: 'Code is read more often than it is written.' Python optimises for reading.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🏆  Result: learn Python and you can contribute to every AI library and research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The network effect: Python won AI → all tutorials are Python → new researchers learn Python → all new libraries are Python. Unbreakable cycle.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Session 3 — Programming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Compiled vs Interpreted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5577840" cy="43891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90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⚙️ Compiled (C, C++, Rust)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9339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500">
                <a:solidFill>
                  <a:srgbClr val="EE8888"/>
                </a:solidFill>
              </a:rPr>
              <a:t>✗  Translated to machine code before running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Fast at execution time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Catch errors before the program runs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Single target platform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Used for: operating systems, games, embedded systems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Edit → compile → run → test (slower cycle)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557784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490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🐍 Interpreted (Python, JavaScript)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99339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500">
                <a:solidFill>
                  <a:srgbClr val="88EEAA"/>
                </a:solidFill>
              </a:rPr>
              <a:t>✓  Translated line by line while running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Slower, but flexible and instant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Errors surface at runtime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Runs anywhere with the interpreter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Used for: data science, web, scripting, AI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Edit → run → see result immediately (fast cycle)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Fibonacci — First Standalone Python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Create a new file: fibonacci.py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Write fibonacci_loop(n): using a for loop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Write fibonacci_recursive(n): function calling itself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Run both and compare the output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5.  Add the Golden Ratio section — print ratios of consecutive terms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fibonacci.py runs without errors.
Both functions produce the same output.
Golden ratio converges to 1.618...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Fibonacci squad numbers: 1,2,3,5,8,13,21,34,55 — find real players who've worn these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229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26A5C6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91B2"/>
                </a:solidFill>
              </a:rPr>
              <a:t>SESSION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</a:rPr>
              <a:t>Math with Superpowers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685800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"Python was named after Monty Python.
Its inventor wanted programming to be fun.
Let's test that claim."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91B2"/>
                </a:solidFill>
              </a:rPr>
              <a:t>Session 4 —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Python Is 12th-Grade Math — Just Different Notation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📐 Math 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Variable:  x = 5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Function:  f(x) = x²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Set:  A = {1, 2, 3}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Sequence: a₁, a₂, a₃, ...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Summation: Σaᵢ for i in A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Condition: if x &gt;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91B2"/>
                </a:solidFill>
              </a:rPr>
              <a:t>🐍 Python Equivalent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x = 5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def f(x): return x**2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A = {1, 2, 3}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a = [a1, a2, a3, ...]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sum(a) or sum(a for a in A)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if x &gt; 0: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91B2"/>
                </a:solidFill>
              </a:rPr>
              <a:t>Session 4 —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Variables, Lists, Loops — The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1170432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6949440" cy="5166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82296" cy="51663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08760"/>
            <a:ext cx="66751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250">
                <a:solidFill>
                  <a:srgbClr val="CDD6F4"/>
                </a:solidFill>
                <a:latin typeface="Courier New"/>
              </a:rPr>
              <a:t># Variables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player = 'Vini Jr'   # string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goals  = 24          # int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xg     = 18.3        # float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# Lists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squad  = ['Vini', 'Bellingham', 'Mbappe']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squad[0]        # → 'Vini'  (0-indexed!)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len(squad)      # → 3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# Loops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for p in squad: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  print(p)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24927" y="1389888"/>
            <a:ext cx="4462272" cy="5166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24927" y="1389888"/>
            <a:ext cx="82296" cy="5166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46304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Variables store values.
Lists store ordered sequences of values.
Loops repeat an action for each item.
⚠️ Python is 0-indexed:
first item = index 0
second item = index 1
This trips everyone up at first — it's normal.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91B2"/>
                </a:solidFill>
              </a:rPr>
              <a:t>Session 4 —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Functions and Imports — Reuse and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1170432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6949440" cy="5166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82296" cy="51663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08760"/>
            <a:ext cx="66751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250">
                <a:solidFill>
                  <a:srgbClr val="CDD6F4"/>
                </a:solidFill>
                <a:latin typeface="Courier New"/>
              </a:rPr>
              <a:t># Functions — exactly like f(x) in math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def rate_season(goals, assists):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  total = goals + assists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  if total &gt; 30: return 'Exceptional'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  elif total &gt; 20: return 'Good'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  else: return 'Average'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print(rate_season(24, 11))  # → 'Exceptional'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# Imports — use other people's code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import numpy as np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import matplotlib.pyplot as plt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x = np.linspace(0, 10, 100)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plt.plot(x, np.sin(x))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plt.show()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24927" y="1389888"/>
            <a:ext cx="4462272" cy="5166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24927" y="1389888"/>
            <a:ext cx="82296" cy="5166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46304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def creates a reusable block — just like defining f(x) in math.
Imports let you use libraries:
numpy → math operations on arrays (like matrices)
matplotlib → graphs and charts
pandas → tables of data (like Excel in Python)
These three libraries power almost all data science.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4 — 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Math Waves — Plot Functions from 12th Grade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Open labs/lab1_math_waves.py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Run Part 1 — Python as a calculator (verify familiar results)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Run Part 2 — plot sin(x) and cos(x) on the same graph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Understand every line: np.linspace, plt.plot, plt.show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5.  Run Part 3 — plot the quadratic x²-5x+6 with roots marked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Two matplotlib windows open:
1. Sin and cos wave plot
2. Quadratic with roots at x=2 and x=3 highlighted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Challenge: plot the derivative of sin(x). It should look like cos(x) — verify visually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4 — 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Guessing Game — Binary Search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Open labs/lab2_guessing_game.py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Play the game: find the secret number, count your attempts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Try to beat it in 7 guesses (it's possible — here's how)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Watch binary_search_strategy() run — always guess the middle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5.  Teacher explains: this is O(log n) — 1,000 numbers in 10 guesses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Play the game yourself first.
Watch the binary search demo.
Understand why log₂(1000) ≈ 10.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Binary search is how NBA databases find any player instantly among millions of records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4 — 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Top Scorers Dashboard — NBA + Soccer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Open labs/lab3_top_scorers.py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FIRST: change all player names and stats to your actual favourites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Run it — two charts appear side by side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Left chart: soccer goals + assists bar chart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5.  Right chart: basketball PPG vs APG scatter plot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Two charts saved as top_scorers.png
the student's own favourite players, his own data.
Send it to friends — it looks professional.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Use YOUR players — Mbappe, Luka, Vini, Giannis — whoever you actually watch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4 — 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Dice Simulator — Law of Large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Open labs/lab4_dice_simulator.py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Run it — 4 histograms appear (10, 100, 1000, 10000 rolls)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Observe: 10 rolls looks lumpy, 10,000 rolls looks flat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Read the free throw simulation at the bottom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5.  Discussion: what does this tell us about 5-game slumps in sports?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 histograms in a grid — showing convergence to flat distribution.
Free throw simulation showing how sample size affects accuracy.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Why a 5-game slump means nothing statistically. Why a full 82-game NBA season tells you everything.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4572000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📝  ASSIGNMENT  ·  Session 4 —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Independent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533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DD"/>
                </a:solidFill>
              </a:rPr>
              <a:t>Complete before the next session. Bring all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64792"/>
            <a:ext cx="1170432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938528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938528"/>
            <a:ext cx="82296" cy="2240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938528"/>
            <a:ext cx="5486400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029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91B2"/>
                </a:solidFill>
              </a:rPr>
              <a:t>Task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32257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1: Pick TWO lab challenge prompts and complete them. Bring the code and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938528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1938528"/>
            <a:ext cx="82296" cy="2240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938528"/>
            <a:ext cx="5486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029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Task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2257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2: Build a match stats tracker — input 5 results, print wins/draws/losses, goals scored/conceded, goal difference, points.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4389120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4389120"/>
            <a:ext cx="82296" cy="2240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" y="4389120"/>
            <a:ext cx="54864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Task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77316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3: Update lab3_top_scorers.py to include 10 players (5 soccer + 5 basketball). Add minutes played and compute goals per 90.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4389120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4389120"/>
            <a:ext cx="82296" cy="2240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4389120"/>
            <a:ext cx="54864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Task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7316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4: How many guesses does binary search need for 1 billion records? Why does Google Search return results in 0.5 seconds? Connect to Big-O.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229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26A5C6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91B2"/>
                </a:solidFill>
              </a:rPr>
              <a:t>SESSION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Math &amp; Stats for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</a:rPr>
              <a:t>The Engine Behind Every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685800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"Netflix, Spotify, ChatGPT — they all reduce to three things
from your 12th-grade textbook: calculus, linear algebra, probability."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891B2"/>
                </a:solidFill>
              </a:rPr>
              <a:t>Session 5 — Math &amp; Stats for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Vectors and Matrices — Neural Networks Are Matrix Math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📐  A vector = a list of numbers. Player stats: [goals, assists, xG, minutes] = [24, 11, 18.3, 2650]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🧮  Dot product: [1,2,3]·[4,5,6] = 1×4 + 2×5 + 3×6 = 32. Core operation of every neural network.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📊  Matrix = a grid of numbers. A neural network 'layer' = matrix × input vector + bias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🔄  Matrix multiplication: transform one vector into another. Each layer reshapes the data.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⚡  The entire forward pass of GPT-4 = billions of matrix multiplications happening in parallel on GPUs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✅  Student already knows vectors from 12th-grade physics. He already knows matrix multiplication.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The whole secret of neural networks: output = matrix × input + bias. Repeated many times. That's it.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891B2"/>
                </a:solidFill>
              </a:rPr>
              <a:t>Session 5 — Math &amp; Stats for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Gradient Descent — How AI Learns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🎯  Learning = finding parameters that minimise a 'loss function' (how wrong we are)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📉  Loss function measures the gap between prediction and truth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📐  The derivative tells us the slope at any point — which direction is downhill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⬇️  Move the parameters in the downhill direction → predictions improve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🔁  Repeat thousands of times → the model 'rolls downhill' to the minimum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🌍  ChatGPT's training: gradient descent in a space with 175 billion dimensions, for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Sports analogy: gradient descent is a player watching game film, finding one specific weakness, correcting it, repeat. Each correction = one gradient step.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91B2"/>
                </a:solidFill>
              </a:rPr>
              <a:t>Session 5 — Math &amp; Stats for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Probability &amp; Statistics — How AI Decides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91B2"/>
                </a:solidFill>
              </a:rPr>
              <a:t>📊 Key Stats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Mean — average outcome (expected goals per season)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Variance — spread around the mean (consistency)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Std deviation — √variance (volatility = risk)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Correlation — how two variables move together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Normal distribution — the bell curve, appears everywhere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Bayes' Theorem — update probability when new evidence arrives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⚽🏀 Sports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xG — expected goals is a probability: 0.0 → 1.0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Free throw % — probability of making each shot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'He's due a goal' — Bayes says NO. Each shot is independent.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Injury prediction — correlation between workload and injury risk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Player valuation — regression model on stats and performance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Scouting — find players whose stats exceed their reputation (undervalued)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xG (Expected Goals)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Open labs/xg_model.py — read the shot data at the top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Run Part 2: plot Goals vs Distance (scatter plot)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Run Part 2: plot Distance + Angle coloured by outcome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Identify the pattern — draw a curve through the data by hand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5.  Run Part 3: use estimate_xg() on famous shots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6.  Check: what does the model say about Mbappe vs Argentina?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Two scatter plots showing the xG pattern.
Famous shot analysis printed.
Mbappe's goal: xG = 0.08 (8% chance — he scored it anyway).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That 0.08 xG goal is why Mbappe is Mbappe. The model quantifies what the eye already knew.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4572000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📝  ASSIGNMENT  ·  Session 5 — Math &amp; Stats for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Independent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533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DD"/>
                </a:solidFill>
              </a:rPr>
              <a:t>Complete before the next session. Bring all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64792"/>
            <a:ext cx="1170432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938528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938528"/>
            <a:ext cx="82296" cy="2240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938528"/>
            <a:ext cx="5486400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029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91B2"/>
                </a:solidFill>
              </a:rPr>
              <a:t>Task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32257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1: Extend estimate_xg() with two new features (e.g., header vs foot, counter-attack). Test on 5 famous shots. Did scores change?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938528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1938528"/>
            <a:ext cx="82296" cy="2240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938528"/>
            <a:ext cx="5486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029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Task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2257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2: Calculate dot products by hand: [3,4]·[1,2], [1,0,0]·[5,3,7], [2,3,1]·[2,3,1]. Verify with numpy.dot(). What is a vector dotted with itself?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4389120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4389120"/>
            <a:ext cx="82296" cy="2240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" y="4389120"/>
            <a:ext cx="54864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Task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77316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3: Compute correlation between goals and xG for 10 players. Plot goals vs xG scatter. Add y=x line. Who overperforms xG most?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4389120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4389120"/>
            <a:ext cx="82296" cy="2240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4389120"/>
            <a:ext cx="54864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Task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7316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4: In 2 sentences, explain local minimum vs global minimum using a basketball analogy.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229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23AA7D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SESSION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</a:rPr>
              <a:t>The Thing That Changes Everything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685800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"In 2022, an AI passed the bar exam and aced the SAT.
In 2025, AI agents book meetings, write code, and run workflows.
You're building one today."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Session 6 —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70 Years of AI — The Story So Far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371600"/>
            <a:ext cx="54864" cy="521208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1517904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1051560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4475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1950s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44475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Rule-Based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71907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Programmers write every rule by hand · Works for chess, fails for reality</a:t>
            </a:r>
          </a:p>
        </p:txBody>
      </p:sp>
      <p:sp>
        <p:nvSpPr>
          <p:cNvPr id="12" name="Oval 11"/>
          <p:cNvSpPr/>
          <p:nvPr/>
        </p:nvSpPr>
        <p:spPr>
          <a:xfrm>
            <a:off x="1463040" y="2386584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313432"/>
            <a:ext cx="1051560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31343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1990s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31343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Statistical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58775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Algorithms learn patterns from examples · Spam filters, credit scoring</a:t>
            </a:r>
          </a:p>
        </p:txBody>
      </p:sp>
      <p:sp>
        <p:nvSpPr>
          <p:cNvPr id="17" name="Oval 16"/>
          <p:cNvSpPr/>
          <p:nvPr/>
        </p:nvSpPr>
        <p:spPr>
          <a:xfrm>
            <a:off x="1463040" y="3255264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182112"/>
            <a:ext cx="1051560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18211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18211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Deep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45643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AlexNet wins ImageNet · Neural nets learn their own features · Game changer</a:t>
            </a:r>
          </a:p>
        </p:txBody>
      </p:sp>
      <p:sp>
        <p:nvSpPr>
          <p:cNvPr id="22" name="Oval 21"/>
          <p:cNvSpPr/>
          <p:nvPr/>
        </p:nvSpPr>
        <p:spPr>
          <a:xfrm>
            <a:off x="1463040" y="4123944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050792"/>
            <a:ext cx="1051560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05079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05079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'Attention Is All You Need'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32511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Transformer architecture · Parallel training · Scales to any size</a:t>
            </a:r>
          </a:p>
        </p:txBody>
      </p:sp>
      <p:sp>
        <p:nvSpPr>
          <p:cNvPr id="27" name="Oval 26"/>
          <p:cNvSpPr/>
          <p:nvPr/>
        </p:nvSpPr>
        <p:spPr>
          <a:xfrm>
            <a:off x="1463040" y="4992624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919472"/>
            <a:ext cx="1051560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91947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91947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19379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1M users in 5 days · 100M in 2 months · Fastest adoption in history</a:t>
            </a:r>
          </a:p>
        </p:txBody>
      </p:sp>
      <p:sp>
        <p:nvSpPr>
          <p:cNvPr id="32" name="Oval 31"/>
          <p:cNvSpPr/>
          <p:nvPr/>
        </p:nvSpPr>
        <p:spPr>
          <a:xfrm>
            <a:off x="1463040" y="5861304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5788152"/>
            <a:ext cx="1051560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78815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78815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606247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AI that reasons, uses tools, takes actions · The era Student enters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Session 6 —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Transformers — Why Everything Changed in 2017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🧠  Attention mechanism — model learns which parts of input to focus on for each output token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⚡  Parallel training — unlike previous RNNs, Transformers train all tokens simultaneously → can use GPUs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📈  Scale — bigger model + more data + more compute → dramatically better results (scaling laws)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🌍  GPT-3 (2020): 175 billion parameters · Trained on most of the internet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💬  Emergent behaviour — nobody programmed GPT-3 to translate or write code · It learned from scale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🏗️  Every major AI today — GPT, Claude, Gemini, Llama — is a Transformer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The 2017 paper 'Attention Is All You Need' by Google Brain has been cited 100,000+ times. It changed AI as completely as transistors changed hardware.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Session 6 —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Chatbot vs Agent — A Fundamental Difference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99"/>
                </a:solidFill>
              </a:rPr>
              <a:t>💬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Receives a question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Generates an answer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One turn → done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Passive — waits for instructions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No tools, no memory beyond the conversation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Like texting someone a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🤖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Receives a goal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Plans the steps to achieve it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Uses tools (search, code, APIs)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Has memory across sessions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Takes real actions in the world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Like hiring a contractor to get something done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Session 6 —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Claude API — 8 Lines to a Working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6949440" cy="5166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82296" cy="5166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08760"/>
            <a:ext cx="66751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250">
                <a:solidFill>
                  <a:srgbClr val="CDD6F4"/>
                </a:solidFill>
                <a:latin typeface="Courier New"/>
              </a:rPr>
              <a:t>import anthropic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client = anthropic.Anthropic()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response = client.messages.create(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  model="claude-opus-4-7",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  max_tokens=300,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  system="You are a sharp sports analyst.",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  messages=[{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      "role": "user",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      "content": "Analyse Vinícius Jr"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    }]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)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print(response.content[0].text)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24927" y="1389888"/>
            <a:ext cx="4462272" cy="5166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24927" y="1389888"/>
            <a:ext cx="82296" cy="5166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46304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model = the brain
system = the personality
messages = the memory
max_tokens = maximum length
Change system from 'sharp analyst' to 'harsh critic' to 'fanboy' — same model, completely different personality.
The system prompt is a dial. Experiment with it.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Build the Sports Analyst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Open labs/sports_analyst.py — set ANTHROPIC_API_KEY first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Run Part 1: one-shot analysis of any player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Run Part 2: same player, three different personas — compare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Read Part 3: understand conversation_history (this IS memory)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5.  Run the scripted multi-turn demo — watch it remember 'him'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6.  Challenge: add debate mode — agent argues Player A &gt; Player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Working sports analyst responding to real queries.
Persona experiment: 3 different voices, same player.
Multi-turn demo showing memory across turns.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Ask it about Mbappe, Luka, Vini, Bellingham — then ask it to compare them to legends at the same age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4572000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📝  ASSIGNMENT  ·  Session 6 —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Independent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533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DD"/>
                </a:solidFill>
              </a:rPr>
              <a:t>Complete before the next session. Bring all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64792"/>
            <a:ext cx="1170432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938528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938528"/>
            <a:ext cx="82296" cy="2240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938528"/>
            <a:ext cx="54864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029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Task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32257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1: Add debate_mode(player1, player2) — agent picks a side, gives 3 arguments. Test: Mbappe vs Haaland, Luka vs SGA.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938528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1938528"/>
            <a:ext cx="82296" cy="2240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938528"/>
            <a:ext cx="5486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029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Task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2257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2: Feed your Session 4 player stats into the agent. Ask: who is over/under-performing their xG? Is the AI's answer correct?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4389120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4389120"/>
            <a:ext cx="82296" cy="2240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" y="4389120"/>
            <a:ext cx="54864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Task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77316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3: Try 3 very different system prompts for the same question. Which was most useful? Which was most entertaining?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4389120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4389120"/>
            <a:ext cx="82296" cy="2240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4389120"/>
            <a:ext cx="54864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Task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7316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4 (Think): GPT-4 passed the bar exam. Does that mean it 'understands' law? Write 4–6 sentences on your view.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229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F78B1A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SESSION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Quant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</a:rPr>
              <a:t>Hedge Funds Are Just Applied Math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685800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"In 1988, mathematicians left academia to start a hedge fund.
No traders. No finance degrees. Just math people.
They made $100 billion."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</a:rPr>
              <a:t>Session 7 — Quant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Renaissance Technologies — The Greatest Trade Ever Made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🧮  Jim Simons: mathematician, Cold War codebreaker, MIT professor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🏦  1988: founded Renaissance Technologies — hired physicists and mathematicians, no traders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📊  Medallion Fund: 66% average annual return for 30 years (before fees)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🌍  S&amp;P 500 average: ~10% per year. Medallion: 66%. No other fund comes close.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🔐  Medallion closed to outside investors in 1993 — too profitable to share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🧩  Secret: treat financial markets like a physics problem. Find patterns others can't see.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The same skills: linear algebra, probability, Python, time series analysis — used in AI and in quant finance. The tools are identical. The data is different.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Session 7 — Quant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Returns and Volatility — The Two Core Measures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1170432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6949440" cy="5166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82296" cy="5166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08760"/>
            <a:ext cx="66751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250">
                <a:solidFill>
                  <a:srgbClr val="CDD6F4"/>
                </a:solidFill>
                <a:latin typeface="Courier New"/>
              </a:rPr>
              <a:t>import yfinance as yf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import numpy as np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# Download 3 years of Man United data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manu = yf.Ticker('MANU').history(period='3y')['Close']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# Daily return = % change each day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returns = manu.pct_change().dropna()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# Annualise (252 trading days/year)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annual_return = returns.mean() * 252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annual_vol    = returns.std() * np.sqrt(252)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print(f'Return:     {annual_return:.1%}')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CDD6F4"/>
                </a:solidFill>
                <a:latin typeface="Courier New"/>
              </a:rPr>
              <a:t>print(f'Volatility: {annual_vol:.1%}')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24927" y="1389888"/>
            <a:ext cx="4462272" cy="5166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24927" y="1389888"/>
            <a:ext cx="82296" cy="5166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46304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Return = how much you made.
Volatility = how much it swings.
Volatility = standard deviation of returns.
High volatility = risky investment.
A consistent player scoring 20 goals every season has LOW volatility.
A player scoring 35 one year and 8 the next has HIGH volatility.
Would you sign the volatile player? Depends on the price.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</a:rPr>
              <a:t>Session 7 — Quant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Markowitz + Sharpe — Two Nobel Prize Ideas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📊  Portfolio theory (Markowitz, 1952): diversification reduces risk without reducing return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🔗  If two assets are uncorrelated, holding both lowers total portfolio volatility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➗  Sharpe Ratio = (Return − Risk-Free Rate) / Volatility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📈  Sharpe &gt; 1.0 = good · Sharpe &gt; 2.0 = excellent · Renaissance Medallion = ~2.0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🌍  S&amp;P 500 Sharpe ≈ 0.5. Most hedge funds: 0.3–0.8. Renaissance: off the chart.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⚽  Transfer budget as a portfolio: buy uncorrelated players (different positions, risk profiles)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The Sharpe Ratio appears in every investment discussion. Learn to interpret it: 'How much return am I getting per unit of risk I'm taking?'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</a:rPr>
              <a:t>Session 7 — Quant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Black-Scholes — The Equation That Won the Nobel Prize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📜  Fischer Black and Myron Scholes (1973): formula to price options on stocks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❓  An option = the right (not obligation) to buy a stock at a fixed price in the future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🧮  The formula uses: logarithms, exponentials, normal distribution, partial derivatives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✅  Every single symbol in Black-Scholes is something Student already knows from 12th grade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💰  This formula governs a $10 trillion global derivatives market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🎓  Scholes won the Nobel Prize in Economics for it (Black had died by then)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Teacher: write the Black-Scholes formula on a whiteboard. Point to each symbol. 'You know this. This. And this. All of it.' This is the moment.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Man United Stock Analysis — Real Financial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Open labs/stock_analysis.py and run it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Watch MANU, AAPL, NVDA download — 3 years of real data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Observe the MANU chart: find the Nov 2022 Glazers-for-sale spike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Read the Sharpe Ratio table — which has the best risk-adjusted return?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5.  Study the correlation matrix — which two assets are least correlated?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Three price history charts saved.
Sharpe Ratio comparison table printed.
Correlation matrix printed.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Man United: same numbers, two answers. Good for Glazers (3× return). Bad for fans (debt killed transfers).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4572000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📝  ASSIGNMENT  ·  Session 7 — Quant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Independent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533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DD"/>
                </a:solidFill>
              </a:rPr>
              <a:t>Complete before the next session. Bring all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64792"/>
            <a:ext cx="1170432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938528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938528"/>
            <a:ext cx="82296" cy="2240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938528"/>
            <a:ext cx="54864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029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Task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32257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1: Add two new tickers (Nike NKE, EA Sports, MSG Sports). Calculate their Sharpe Ratio. Does adding them to a portfolio with MANU reduce risk?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938528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1938528"/>
            <a:ext cx="82296" cy="2240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938528"/>
            <a:ext cx="54864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029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Task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2257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2: Transfer Budget Model — 3 striker options with fees, goals, injury days. Compute mean goals, std deviation, goals/£M. Build a Sharpe-like ratio. Who do you sign?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4389120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4389120"/>
            <a:ext cx="82296" cy="2240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" y="4389120"/>
            <a:ext cx="54864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Task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77316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3: Research: what is Renaissance Technologies' average annual return? Why did they close to outside investors in 1993?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4389120"/>
            <a:ext cx="548640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4389120"/>
            <a:ext cx="82296" cy="2240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4389120"/>
            <a:ext cx="54864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Task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73168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Task 4: How is building an xG model similar to a trading strategy? How could your Session 6 agent be used in quant trading? What risks would you worry about?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229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FFEB14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SESSION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</a:rPr>
              <a:t>Build Something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68580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"Eight sessions of learning.
One rule: every line of code you write, you can explain.
That's all."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700"/>
                </a:solidFill>
              </a:rPr>
              <a:t>Session 8 —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Track A — The Oracle: AI Stock Analysis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📊  Input: a stock ticker. Output: an AI-generated investment thesis.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📥  Download price data with yfinance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🧮  Calculate: annual return, volatility, Sharpe Ratio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🤖  Feed stats to Claude API → generates 3-paragraph plain-English analysis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💡  Sessions used: 4 (Python), 6 (Claude API), 7 (finance metrics)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🏁  Demo: type 'MANU' → full analysis appears in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3-day build: Day 3 → get_stock_stats() working · Day 4 → Claude API connected · Day 5 → polish and error handling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700"/>
                </a:solidFill>
              </a:rPr>
              <a:t>Session 8 —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Track B — NeuralNet from Zero: Digit Recognition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🖊️  Train a neural network to recognise handwritten digits (0–9)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🚫  Rules: NO PyTorch, NO TensorFlow, NO scikit-learn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✅  Tools allowed: NumPy only — every operation is visible, explainable math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🧠  Architecture: 784 inputs (28×28 pixels) → 64 hidden units → 10 outputs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🎯  Target accuracy: &gt;85% on test set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💡  Sessions used: 4 (Python + NumPy), 5 (gradient descent, matrix math)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This is the hardest track. But if Student can explain how a neural network learns from scratch, he understands something most CS graduates can't.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700"/>
                </a:solidFill>
              </a:rPr>
              <a:t>Session 8 —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Track C — The Tutor Bot: AI That Teaches Math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📚  User chooses a topic: derivatives, probability, linear algebra, etc.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🤖  AI explains the concept at the right level (system prompt controls depth)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📝  AI generates a practice problem tailored to the topic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✅  User submits an answer → AI gives feedback and adjusts difficulty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🔁  Loop continues — getting harder or easier based on performance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💡  Sessions used: 4 (Python), 6 (Claude API + multi-turn memory)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Meta-moment: Student is building a system that does what Teacher has been doing. The student builds the teacher.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700"/>
                </a:solidFill>
              </a:rPr>
              <a:t>Session 8 —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Track D — The Sports Oracle  ⭐ Recommended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📊  Load real soccer + basketball player data (CSV provided)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🧮  Compute: goal contributions, goals per 90, xG over/under-performance, efficiency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📈  Plot: 3 charts — goals bar chart, goals vs assists scatter, xG comparison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🤖  Claude API summarises the 3 most interesting findings in the data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🏁  Demo: running program → charts open → AI commentary prints below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💡  Sessions used: 2 (stats), 4 (Python + pandas), 5 (xG), 6 (Claude API)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Starter file: sports_dashboard_starter.py — skeleton with empty functions. Student fills them in using what he learned.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</a:rPr>
              <a:t>Session 8 —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the Capstone Week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🗓️ 7-Day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Day 1–2: Scope and scaffold with Teacher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→ Pick track, define functions, create skeleton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→ Student leaves with something that runs (even if empty)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Day 3–5: Student builds independently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→ Teacher available to unblock — NOT to write code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Day 6: Code review session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→ Teacher reviews like a senior engineer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→ One improvement implemented together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Day 7: Demo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🎤 Demo Day (5 minutes)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0:00–2:00  Live demo — show the full program running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2:00–3:00  Explain one piece of code line by line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3:00–4:00  What surprised you during building?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4:00–5:00  What would you add if you had one more week?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Teacher asks 3 questions: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→ Walk me through what happens when [input]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→ What would break this with different data?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→ Which session did you use most?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229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898694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SESSION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Software Engineering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</a:rPr>
              <a:t>How the Profession Evolved: 2010 →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6858000" cy="254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"In 2010 you deployed by copying files to a server manually.
In 2026 AI writes your code and your infrastructure auto-heals.
Same job title. Completely different world."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Session 9 — Software Engineering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Foundation Years — 2010 to 2014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2010  Java + OOP + Web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Java: the dominant enterprise language — still runs most banking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OOP: organise code around objects (a Player has goals and can shoot())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HTML/CSS/JavaScript: what users see, style, and interact with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Server-side: request → query database → return HTML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The model: learn one language deeply. Mastery mattered.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2014  SPA +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SPA (Single-Page Application): page loads once, content swaps dynamically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React / Angular / Vue: frameworks managing SPA complexity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You saw SPAs in DevTools: those XHR calls are SPAs talking to servers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TypeScript: JavaScript with type hints — catches bugs before running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Frontend became a serious engineering specialisation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Instagram, YouTube, Gmail — all SPAs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Session 9 — Software Engineering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Scaling Up — 2015 to 2016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2015  Spring Boot + REST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Spring Boot: a framework that wires up a backend with minimal config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REST API: standard contract using HTTP verbs (GET, POST, PUT, DELETE)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When your sports_analyst.py calls Claude, it makes a REST POST request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Enterprise patterns: dependency injection, ORMs, middleware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Backend = assembling components, not building from scratch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2016  Microservices + DevOps +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Microservices: split one big app into many small independent services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Netflix has ~700 microservices. Each team deploys independently.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Docker: package app + dependencies into a container — runs anywhere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CI/CD: push code → tests run automatically → deploy to production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DevOps: developers own deployment. No more 'throw it over the wall.'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Netflix deploys thousands of times per day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Session 9 — Software Engineering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At Scale — 2017 to 2020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2017  Cloud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AWS / Azure / GCP: rent compute, storage, networking — pay per second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No data centre, no hardware, no cooling — just an API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Lambda: run code without managing a server (serverless)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S3: store any file. RDS: managed database. CDN: files served globally.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A 2-person startup can now serve millions on the same infra as Netflix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Infrastructure as Code: describe your servers in code. Version-controlled.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2020  Kubernetes + 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Kubernetes (K8s): declare 'I want 5 copies of this service running always'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K8s handles: starting containers, restarting crashes, routing traffic, scaling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Observability: when 700 microservices exist, how do you find what's broken?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Logs: every service writes what it did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Metrics: numbers over time — request rate, error rate, response time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Tracing: follow one user request across all 12 services it touched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Session 9 — Software Engineering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Present and Future — 2023 to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2023  Platform Engineering +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Every team rebuilding the same CI/CD pipeline = massive waste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Platform team builds a 'golden path': opinionated, pre-built way to ship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New developer joins → clone template → one command → full service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Shift-left security: find vulnerabilities in the IDE, not in production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Automated scanners check every pull request before it merges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'Platform engineers build the tools that make everyone else go faster'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2026  AI-Native Engineering  ← You Are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Code copilots: AI writes first drafts, you review and direct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Agentic workflows: AI takes multi-step actions autonomously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LLM apps: AI is the core feature, not an add-on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Engineers using AI tools write 2–5× more code per day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Skills that matter more: judgment, system design, knowing when AI is wrong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Student enters engineering when it is being reinvented. No habits to unlearn.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Every Request You Make Travels Through All of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54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261872"/>
            <a:ext cx="7772400" cy="5486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SPA /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99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</a:rPr>
              <a:t>Era 3, 2014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810512"/>
            <a:ext cx="457200" cy="109728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920240"/>
            <a:ext cx="77724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29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REST API / API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</a:rPr>
              <a:t>Era 4, 2015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468880"/>
            <a:ext cx="457200" cy="109728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2578608"/>
            <a:ext cx="777240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883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Microservices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15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</a:rPr>
              <a:t>Era 5, 2016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127248"/>
            <a:ext cx="457200" cy="109728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3236976"/>
            <a:ext cx="7772400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34670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Kubernetes Cluster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741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</a:rPr>
              <a:t>Era 7, 2020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785616"/>
            <a:ext cx="457200" cy="109728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" y="3895344"/>
            <a:ext cx="777240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05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Cloud (AWS / GCP)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0325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</a:rPr>
              <a:t>Era 6, 2017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4443984"/>
            <a:ext cx="457200" cy="109728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" y="4553712"/>
            <a:ext cx="7772400" cy="548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663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Layer (LLM Agent)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690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</a:rPr>
              <a:t>Era 9,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DD"/>
                </a:solidFill>
              </a:rPr>
              <a:t>← When you opened Instagram this morning, your request passed through all of these layers.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What Success Looks Like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325880"/>
            <a:ext cx="1005840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72768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</a:rPr>
              <a:t>At the start of this curriculum, Student had never written a line of code.
By Demo Day, he can sit down at a keyboard, build a Python program that
downloads real data, computes statistics, plots charts, and calls an AI API —
and explain every single line he wrote.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005072"/>
            <a:ext cx="100584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8888"/>
                </a:solidFill>
              </a:rPr>
              <a:t>✗  Zero lines of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206240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EEAA"/>
                </a:solidFill>
              </a:rPr>
              <a:t>✓  4 Python projects + AI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81728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8888"/>
                </a:solidFill>
              </a:rPr>
              <a:t>✗  Math = school exercises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681728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681728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EEAA"/>
                </a:solidFill>
              </a:rPr>
              <a:t>✓  Math = the language of computing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57216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8888"/>
                </a:solidFill>
              </a:rPr>
              <a:t>✗  AI = magic black 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157216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157216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EEAA"/>
                </a:solidFill>
              </a:rPr>
              <a:t>✓  AI = built one from an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32704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8888"/>
                </a:solidFill>
              </a:rPr>
              <a:t>✗  Finance = news headlines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63270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632704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EEAA"/>
                </a:solidFill>
              </a:rPr>
              <a:t>✓  Finance = Sharpe, Markowitz, real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</a:rPr>
              <a:t>⚽  🏀  Let's go, Student.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8229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FF4480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306C"/>
                </a:solidFill>
              </a:rPr>
              <a:t>SESSION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258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How Instagram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</a:rPr>
              <a:t>The Billion-Dollar App You Use Without Thinking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6858000" cy="254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429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"In 30 seconds of scrolling,
hundreds of servers worked for you."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1306C"/>
                </a:solidFill>
              </a:rPr>
              <a:t>Session 10 — How Instagram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Happens When You Scroll?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704320" cy="254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800">
                <a:solidFill>
                  <a:srgbClr val="FFFFFF"/>
                </a:solidFill>
              </a:rPr>
              <a:t>🔐  Authenticate — server checks your login token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🧠  Rank — ML model scores thousands of candidate posts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📦  Fetch — images loaded from CDN servers near you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📊  Predict — algorithm guesses which posts you'll like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⏱️  Measure — every pause, zoom, and skip is recorded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💰  Auction — an ad slot is won by the highest bidder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21440" cy="56692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989320"/>
            <a:ext cx="73152" cy="566928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All of this happens in under 200 milliseconds. Every time.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1306C"/>
                </a:solidFill>
              </a:rPr>
              <a:t>Session 10 — How Instagram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Journey of Your Photo (Post to Feed)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1704320" cy="254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371600"/>
            <a:ext cx="54864" cy="521208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1517904"/>
            <a:ext cx="292608" cy="292608"/>
          </a:xfrm>
          <a:prstGeom prst="ellipse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1051560" cy="329184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4475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Tap 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44475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Phone → API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71907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HTTP POST with JPEG + caption + auth token</a:t>
            </a:r>
          </a:p>
        </p:txBody>
      </p:sp>
      <p:sp>
        <p:nvSpPr>
          <p:cNvPr id="12" name="Oval 11"/>
          <p:cNvSpPr/>
          <p:nvPr/>
        </p:nvSpPr>
        <p:spPr>
          <a:xfrm>
            <a:off x="1463040" y="2386584"/>
            <a:ext cx="292608" cy="292608"/>
          </a:xfrm>
          <a:prstGeom prst="ellipse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313432"/>
            <a:ext cx="1051560" cy="329184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31343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31343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Media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58775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Creates 4 versions: 150px thumb, 640px, 1080px, 1920px Story</a:t>
            </a:r>
          </a:p>
        </p:txBody>
      </p:sp>
      <p:sp>
        <p:nvSpPr>
          <p:cNvPr id="17" name="Oval 16"/>
          <p:cNvSpPr/>
          <p:nvPr/>
        </p:nvSpPr>
        <p:spPr>
          <a:xfrm>
            <a:off x="1463040" y="3255264"/>
            <a:ext cx="292608" cy="292608"/>
          </a:xfrm>
          <a:prstGeom prst="ellipse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182112"/>
            <a:ext cx="1051560" cy="329184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18211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18211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Amazon 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45643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All 4 versions stored permanently  ·  100+ billion photos total</a:t>
            </a:r>
          </a:p>
        </p:txBody>
      </p:sp>
      <p:sp>
        <p:nvSpPr>
          <p:cNvPr id="22" name="Oval 21"/>
          <p:cNvSpPr/>
          <p:nvPr/>
        </p:nvSpPr>
        <p:spPr>
          <a:xfrm>
            <a:off x="1463040" y="4123944"/>
            <a:ext cx="292608" cy="292608"/>
          </a:xfrm>
          <a:prstGeom prst="ellipse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050792"/>
            <a:ext cx="1051560" cy="329184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05079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CDN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05079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Edge 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32511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URLs pushed to 200+ nodes globally — Mumbai serves Mumbai</a:t>
            </a:r>
          </a:p>
        </p:txBody>
      </p:sp>
      <p:sp>
        <p:nvSpPr>
          <p:cNvPr id="27" name="Oval 26"/>
          <p:cNvSpPr/>
          <p:nvPr/>
        </p:nvSpPr>
        <p:spPr>
          <a:xfrm>
            <a:off x="1463040" y="4992624"/>
            <a:ext cx="292608" cy="292608"/>
          </a:xfrm>
          <a:prstGeom prst="ellipse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919472"/>
            <a:ext cx="1051560" cy="329184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91947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91947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PostgreSQL write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19379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post ID, user ID, timestamp, caption, location</a:t>
            </a:r>
          </a:p>
        </p:txBody>
      </p:sp>
      <p:sp>
        <p:nvSpPr>
          <p:cNvPr id="32" name="Oval 31"/>
          <p:cNvSpPr/>
          <p:nvPr/>
        </p:nvSpPr>
        <p:spPr>
          <a:xfrm>
            <a:off x="1463040" y="5861304"/>
            <a:ext cx="292608" cy="292608"/>
          </a:xfrm>
          <a:prstGeom prst="ellipse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5788152"/>
            <a:ext cx="1051560" cy="329184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78815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Fan-out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78815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Kafka queue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606247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Notification task created for every follower in parallel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1306C"/>
                </a:solidFill>
              </a:rPr>
              <a:t>Session 10 — How Instagram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Feed Algorithm — How Posts Are Ranked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306C"/>
                </a:solidFill>
              </a:rPr>
              <a:t>What the model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Past likes — have you liked this account before?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Watch time — how long do you pause on their posts?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DM frequency — do you message them?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Recency — when was this posted?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Popularity — is it going viral globally?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What the algorithm decides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Interest score: your history with this account (40%)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Relationship score: closeness (DMs, tags, etc.) (30%)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Recency score: freshness decay over time (20%)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Popularity score: global engagement (10%)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Every action you take is training data for this model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1306C"/>
                </a:solidFill>
              </a:rPr>
              <a:t>Session 10 — How Instagram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Three Content Types — Three Different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5577840" cy="43891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90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Posts  (permanent)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9339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500">
                <a:solidFill>
                  <a:srgbClr val="EE8888"/>
                </a:solidFill>
              </a:rPr>
              <a:t>✗  Stored forever in Amazon S3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Indexed in PostgreSQL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Shown in feed + profile grid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Can get likes for years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E8888"/>
                </a:solidFill>
              </a:rPr>
              <a:t>✗  Low urgency — durability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5577840" cy="438912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490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Stories / Reels  (ephemeral + viral)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99339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500">
                <a:solidFill>
                  <a:srgbClr val="88EEAA"/>
                </a:solidFill>
              </a:rPr>
              <a:t>✓  Stories: 24-hour TTL, auto-deleted from DB + CDN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Reels: multi-resolution video (360p / 720p / 1080p)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Adaptive bitrate: phone switches quality on 4G vs WiFi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Reels: separate recommendation engine (like TikTok)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EEAA"/>
                </a:solidFill>
              </a:rPr>
              <a:t>✓  A Reel from a nobody can reach 1 million people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1306C"/>
                </a:solidFill>
              </a:rPr>
              <a:t>Session 10 — How Instagram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It Handles 500 Million Daily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704320" cy="254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82296" cy="507492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306C"/>
                </a:solidFill>
              </a:rPr>
              <a:t>The scale (at peak)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1 million photo uploads per minute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4.2 billion likes per day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100 million Stories per day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A single server handles ~1,000 req/sec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Instagram uses thousands of servers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Auto-scaling: more servers at 8 PM Friday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444752"/>
            <a:ext cx="557784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444752"/>
            <a:ext cx="82296" cy="5074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179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The microservices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▸  auth-service — checks your login token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media-service — stores + serves photos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feed-service — builds your ranked feed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ml-ranking-service — scores posts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ads-service — runs the ad auction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▸  notification-service — push alerts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36576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228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🔧  LAB  ·  Session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Build Instagram's Feed Algorithm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70432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6675120" cy="4251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82296" cy="4251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800" b="0" i="0">
                <a:solidFill>
                  <a:srgbClr val="FFFFFF"/>
                </a:solidFill>
              </a:rPr>
              <a:t/>
            </a:r>
            <a:r>
              <a:rPr sz="1400">
                <a:solidFill>
                  <a:srgbClr val="FFFFFF"/>
                </a:solidFill>
              </a:rPr>
              <a:t>1.  Create a user profile dict with past_likes, watch_time, dm_frequency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2.  Define 8 raw posts with from, age_minutes, global_likes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3.  Write rank_post() using weighted formula (interest 40%, relationship 30%...)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4.  Sort posts by score descending — that's your ranked feed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5.  Simulate CDN fetch with latency by nearest node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FFFFFF"/>
                </a:solidFill>
              </a:rPr>
              <a:t>6.  Change weights and see how the feed order changes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627632"/>
            <a:ext cx="4663440" cy="2651760"/>
          </a:xfrm>
          <a:prstGeom prst="rect">
            <a:avLst/>
          </a:prstGeom>
          <a:solidFill>
            <a:srgbClr val="05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627632"/>
            <a:ext cx="82296" cy="2651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✓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Ranked feed printed to terminal
showing why each post ranks where it does.
Like an action → model updates,
feed re-ranks next scroll.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434840"/>
            <a:ext cx="4663440" cy="146304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434840"/>
            <a:ext cx="82296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4560"/>
                </a:solidFill>
              </a:rPr>
              <a:t>⚽🏀  SPORTS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8280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Kevin Systrom built the first Instagram in 13 days using Python. It sold for $1 billion. Same language you've been learning all 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