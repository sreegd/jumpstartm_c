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457200"/>
            <a:ext cx="3200400" cy="3200400"/>
          </a:xfrm>
          <a:prstGeom prst="ellipse">
            <a:avLst/>
          </a:prstGeom>
          <a:solidFill>
            <a:srgbClr val="2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114800"/>
            <a:ext cx="2286000" cy="2286000"/>
          </a:xfrm>
          <a:prstGeom prst="ellipse">
            <a:avLst/>
          </a:prstGeom>
          <a:solidFill>
            <a:srgbClr val="0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NITW M&amp;C PREPARATION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CCCDD"/>
                </a:solidFill>
              </a:rPr>
              <a:t>2-Month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2-Month Curriculum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Computing  ·  Math  ·  Python  ·  AI  ·  Quant Finance  ·  Software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566160"/>
            <a:ext cx="4572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TEACHER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11 + Capstone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⚽  🏀  📊  🤖  📈  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807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99"/>
                </a:solidFill>
              </a:rPr>
              <a:t>Taught by Teacher ·  Built for NITW M&amp;C  ·  Starting from zero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This Curriculum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⏱️  Two months of structured learning — one dedicated session at a time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👨‍🏫  Teacher teaches every session. Student practices independently after each.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Goal: arrive at NITW M&amp;C with genuine understanding, not surface familiarity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🧱  Builds from zero — no prior coding knowledge assumed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⚽🏀  Basketball and soccer woven into every session as the primary examples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Ends with a real, working capstone project Student presents himself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Student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📚 Starting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Just finished 12th PCM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Loves math — scored well, genuinely enjoyed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Strong in calculus, vectors, probability, stats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Never written a line of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Zero programming experience — blank slate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🎯 By the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Can write and explain Python programs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Understands how AI works at a mathematical level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built a working AI-powered sports analytics tool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Knows the full software engineering landscape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Ready for NITW M&amp;C from day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Every Session Has the Same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🎬  HOOK — Teacher opens with a story or demo that creates a question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EXPLAIN — Teacher walks through the concept live, no slides-only lectures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🔧  DEMO — Teacher runs real code or a visualisation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🤝  PRACTICE — Teacher and Student build it together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WOW — the moment everything clicks into place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HOMEWORK — Student continues independently before the next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Rule: no session starts with 'today we learn X'. Every session starts with something that makes Student want to understand 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Full Journey — 11 Sessions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30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🕰️  History of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912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Building Blocks — CPU to GPU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🌐  How the Web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🔢  Maths for Computing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🌍  Programming 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🐍  Python — Math with Superpowers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🧠  Math &amp; Stats for 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🤖  Agentic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📈  Quant Finance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912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🏆  Capstone Project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🏗️  Software Engineering Landscape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📸  How Instagram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8-Week Learning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History + Hardware +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1, 1.1, 1.2  ·  No coding yet — just understanding</a:t>
            </a:r>
          </a:p>
        </p:txBody>
      </p:sp>
      <p:sp>
        <p:nvSpPr>
          <p:cNvPr id="11" name="Oval 10"/>
          <p:cNvSpPr/>
          <p:nvPr/>
        </p:nvSpPr>
        <p:spPr>
          <a:xfrm>
            <a:off x="1463040" y="216941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9626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Maths +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7058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2 &amp; 3  ·  Caesar cipher, passing networks, Fibonacci</a:t>
            </a:r>
          </a:p>
        </p:txBody>
      </p:sp>
      <p:sp>
        <p:nvSpPr>
          <p:cNvPr id="16" name="Oval 15"/>
          <p:cNvSpPr/>
          <p:nvPr/>
        </p:nvSpPr>
        <p:spPr>
          <a:xfrm>
            <a:off x="1463040" y="282092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7477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First Half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0220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1)  ·  Waves, guessing game</a:t>
            </a:r>
          </a:p>
        </p:txBody>
      </p:sp>
      <p:sp>
        <p:nvSpPr>
          <p:cNvPr id="21" name="Oval 20"/>
          <p:cNvSpPr/>
          <p:nvPr/>
        </p:nvSpPr>
        <p:spPr>
          <a:xfrm>
            <a:off x="1463040" y="347243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39928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Second Half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67360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2)  ·  NBA charts, dice, law of large numbers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5  ·  Vectors, gradient descent, xG model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0" y="477545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470230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497662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6  ·  Build the sports analyst agent</a:t>
            </a:r>
          </a:p>
        </p:txBody>
      </p:sp>
      <p:sp>
        <p:nvSpPr>
          <p:cNvPr id="36" name="Oval 35"/>
          <p:cNvSpPr/>
          <p:nvPr/>
        </p:nvSpPr>
        <p:spPr>
          <a:xfrm>
            <a:off x="1463040" y="542696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53538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Quant Finance + SE Landscape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56281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7 &amp; 9  ·  Man United stock, 2010→2026 map</a:t>
            </a:r>
          </a:p>
        </p:txBody>
      </p:sp>
      <p:sp>
        <p:nvSpPr>
          <p:cNvPr id="41" name="Oval 40"/>
          <p:cNvSpPr/>
          <p:nvPr/>
        </p:nvSpPr>
        <p:spPr>
          <a:xfrm>
            <a:off x="1463040" y="607847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600532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Capstone + Instagram Deep Dive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627964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8 &amp; 10  ·  Build day + how Instagram really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🕰️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History of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Greatest Heist in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 first programmer was a woman in 1843.
The machine she programmed didn't exist yet."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Ada Lovelace — The First Programmer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👩‍💻  Charles Babbage designed the Difference Engine in the 1830s — a mechanical calculator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Ada Lovelace wrote an algorithm for it in 1843 — for a machine that wasn't finished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Her algorithm computed Bernoulli numbers — a real mathematical sequence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She saw that the machine could do more than arithmetic — it could manipulate symbols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She is recognised as the world's first computer programmer — 100 years before computers existed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'She wrote an algorithm for a machine that didn't fully exist yet. What does that tell you about the relationship between ideas and technology?'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Alan Turing — The Greatest Codebreaker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World War 2: Nazi Germany used the Enigma machine to encrypt all military communications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🖥️  Turing built the Bombe machine — cracked Enigma, turning the tide of the war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Historians estimate he shortened the war by 2 years and saved 14 million lives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🤔  He asked: 'Can machines think?' — invented the theoretical Turing Machine (basis of all computing)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💔  After the war, the British government prosecuted him for being gay. He died at 41.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The Imitation Game (2014 film) tells his story. the student's homework: watch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Machines 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ENIAC — First General-Purpose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Filled a room · 30 tonnes · 18,000 vacuum tubes · 5,000 additions/second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Transistor Invented at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Silicon switch replaces vacuum tubes · Smaller, faster, reliable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Integrated Circuit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Thousands of transistors on one chip · Moore's Law begins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Moore's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Gordon Moore: transistors double every ~2 years · Held for 60 years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Intel 4004 — First Microprocessor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CPU on a single chip · Paved the way for personal computers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World Shrinks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II — Personal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Computers leave corporations · Enter homes · Steve Jobs, Steve Wozniak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Macintosh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Mouse + windows + icons · Made computers human · 1984 ad is legendary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World Wide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Tim Berners-Lee invents HTML + HTTP + URLs · Gave it away for free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Google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 ranks web pages by importance · PageRank = graph centrality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'An iPod, a phone, and an internet communicator' · The computer becomes personal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Two Revolutions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🤖 The AI Revolution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2012: AlexNet wins ImageNet — deep learning works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2017: 'Attention Is All You Need' — Transformers invented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2020: GPT-3 — scale changes everything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2022: ChatGPT — 1 million users in 5 days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2025: AI agents take autonomous 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The Sports Analytics Revolution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2002: Moneyball — Oakland A's use stats to win on half the payroll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2012: Daryl Morey proves mid-range shots are the worst shot in basketball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2015: Every NBA team installs player-tracking cameras (Second Spectrum)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2018: StatsBomb xG model changes how football is analysed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Today: Every top club has a data science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Computing &amp; Sports Analytics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Research 5 computing milestones (Teacher provides starting points)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Research 5 sports analytics milestones (Student finds these)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For each: write what happened + why it mattered (1 sentence each)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Present the sports milestones to Teacher — explain each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10-row table: half computing, half sports. Student presents his 5 sports milestones aloud.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Moneyball · NBA 3-point revolution · xG in football · GPS vests in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Building Blocks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What's Actually Inside the Box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"There are 19 billion transistors in an Apple M3 chip.
Each one is 3 nanometres wide. A hair is 80,000nm."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Transistor — It All Starts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💡  A transistor is a switch made of silicon — it has two states: ON (1) and OFF (0)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🔋  Stack millions of switches together → represent any number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Stack binary numbers together → represent any instruction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Stack billions of instructions → run Instagram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🦠  A Covid virus is ~100 nanometres. Apple M3 transistors are 3nm. Smaller by 33×.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Your phone has more computing power than NASA had for the entire Apollo programme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show the electron microscope die shot of an Apple M3 chip. Let it land silently for 5 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Three Gates That Run the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def AND(a, b):  return a and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OR(a, b):   return a or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NOT(a):     return not 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Test them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1)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0)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OR(1, 0) 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OR(0, 0)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NOT(1)  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NOT(0)     → 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Every decision a computer makes — every if/else in every app ever written — reduces to these three operations.
AND, OR, NOT are Boolean algebra.
Student already knows this from 12th-grade set theory:
AND = ∩
OR = ∪
NOT = complement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a CPU Works — The Fetch-Decode-Execute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1️⃣  FETCH — Get the next instruction from memory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2️⃣  DECODE — Figure out what the instruction means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3️⃣  EXECUTE — Do it: add numbers, store a value, jump to an address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billions of times per second (clock speed = GHz = billion cycles/sec)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ALU (Arithmetic Logic Unit) — the part that does the actual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💾  Memory hierarchy: Registers → Cache → RAM → SSD (fastest to slowest, smallest to largest)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Analogy: a chef reading a recipe (fetch), understanding a step (decode), chopping the onion (execute) — 3 billion times a second.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CPU vs GPU — Why AI Needs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🏀 CPU — The Superstar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8–16 powerful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handle any complex task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Switches context instantly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Best for sequential tasks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Like LeBron James — brilliant at everything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One thing at a time, incredibly well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⚽ GPU — The Full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Thousands of small parallel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NVIDIA H100: 16,896 CUDA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All cores run simultaneously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Best for matrix multiplication at scale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Like 11 footballers executing a set play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GPT-4 trained on 25,000+ GPUs for months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Logic Gates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labs/logic_gates.py and run it as-is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Predict each output BEFORE running — write your guess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Part 2: print truth tables for AND and OR (all 4 combinations)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Part 3: build XOR from AND + OR + NOT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Challenge: add NAND and NOR gates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logic gate functions + printed truth tables.
Challenge: NAND and NOR with their own truth tables.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CPU = LeBron · GPU = Barcelona pressing — same concept, different tools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the Web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50 Things Happen in Half a Second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"What actually happens when you type youtube.com and press Enter?
There are 8 distinct steps — none of them magic."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&amp; 2 — Find the Server and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🗺️  DNS (Domain Name System) — converts 'youtube.com' → '142.250.80.46'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DNS is the internet's phone book — human names mapped to numeric addresses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Every device on the internet has an IP address — its true identity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📞  TCP — your browser and the server 'pick up the phone' — agree to talk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🔒  HTTPS = encrypted TCP — both sides agree on a secret code before speaking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The padlock in your browser means nobody can eavesdrop on this conversation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Ask Student: 'What's your phone number in this analogy?' Answer: your device's IP address.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3 &amp; 4 — Asking and Answering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The REQUEST your browser sends: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GET /home HTTP/1.1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Host: youtube.com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User-Agent: Chrome/120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Accept: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The RESPONSE the server sends back: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HTTP/1.1 200 OK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Content-Type: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&lt;!DOCTYPE html&gt;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&lt;html&gt;...the page...&lt;/html&gt;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Status codes:
200 = OK, here you go
301 = Moved, go here instead
404 = Not found
403 = Forbidden
500 = Server crashed
Methods:
GET = fetch something
POST = send data
DELETE = remove something
PUT = update something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5 — Building the Page: Three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🦴 HTML — The Skeleton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Defines structure and content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&lt;h1&gt; headings, &lt;p&gt; paragraphs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&lt;table&gt; for data tables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&lt;a&gt; for links, &lt;img&gt; for images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browser reads this and knows what exists on the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👗 CSS — The 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Controls how everything looks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Colours, fonts, sizes, spacing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background-color: #1a1a2e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dark theme on the student's sports page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JavaScript — the muscles: makes things interactive and dynamic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APIs — Apps Talking to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What an API response looks like (JSON):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"player": "Vinícius Jr",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"goals": 24,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"assists": 11,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"club": "Real Madrid",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"xG": 18.3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}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Your sports_analyst.py does this: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client.messages.create(...)  # API call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Returns JSON → Python 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An API is a server that returns data (JSON) instead of a webpage.
When Instagram loads your feed, it makes dozens of API calls:
• one for posts
• one for stories
• one for suggested accounts
• one for ads
JavaScript assembles the JSON responses into what you see.
The UI is just a rendering of API data.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First Webpage + Spy on the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labs/my_sports_page.html in VS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Replace all players with the student's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Change colours to a favourite team's hex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Add a third section (match results or anything sports)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Open Chrome DevTools → Network tab → refresh Instagram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Find one API/XHR call and look at the JSON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personalised sports webpage AND
a screenshot of DevTools showing live API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Sports page has soccer + basketball tables · DevTools shows how ESPN or the NBA app fetches live scores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Maths for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Is the Operating System of Reality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"You've been doing computing math your whole life.
You just didn't know the names."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Number Systems — Why Computers Count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🔟  Humans use decimal (base-10) — because we have 10 fingers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Computers use binary (base-2) — because transistors have 2 states: on/off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Each binary digit (bit) is a power of 2: 1, 2, 4, 8, 16, 32, 64...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Decimal 13 = 8+4+1 = 1101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🎨  Hexadecimal (base-16) — used in colours: #e94560 = red 233, green 69, blue 96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💻  Every photo, video, text message is binary under the hood — just 1s and 0s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Hex shortcut: every pair of hex digits = one byte = 0-255. #ff0000 = pure red (255, 0, 0).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Boolean Algebra = Set Theory You Already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📚 12th Grade Set Theory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A ∩ B  — intersection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 ∪ B  — union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A'      — complement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∩ B)' = A' ∪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∪ B)' = A' ∩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Venn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💻 Boolean Algebra in Computing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A AND B  — both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OR B   — at least one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 A    — flip the value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NOT(AND(A,B)) = OR(NOT(A),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NOT(OR(A,B))  = AND(NOT(A),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Logic gate circuits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Big-O — How Algorithms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📏  Big-O describes how runtime grows as input size (n) grows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🟢  O(1) — Constant: array lookup by index. Always instant. n doesn't matter.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🟡  O(log n) — Logarithmic: binary search. 1 billion records → 30 guesses.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🟠  O(n) — Linear: scan a list once. Double the list → double the time.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🔴  O(n²) — Quadratic: compare every pair. 10× input → 100× time. Dangerous.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💥  O(2ⁿ) — Exponential: brute-force chess. Grows impossibly 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Binary search is O(log n): 1,000 items → 10 guesses · 1,000,000 items → 20 guesses · 1 billion items → 30 guesses. Doubling the input costs ONE extra guess.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— The Math of Networks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🕸️  A graph = nodes (vertices) connected by edges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Degree = how many connections a node has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📍  Path = a route from one node to another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Shortest path = fastest route (Dijkstra's algorithm, 1956)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Centrality = how 'important' a node is — how many paths pass through it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Google Maps, social networks, the web, passing networks in football — all graphs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'Google's PageRank algorithm that made them $100B is betweenness centrality on the web's link graph. Invented in 1956, used for billions of searches today.'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🗺️ Dijkstra's Algorithm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Written in 20 minutes in an Amsterdam café, 1956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Edsger Dijkstra had no pen and paper — did it in his head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Waited 3 years to publish — thought it was trivial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Now runs in Google Maps millions of times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GPS navigation uses this algorithm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of the most used algorithms in existence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 Football Passing 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Players = nodes, passes = edges, pass count = weight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Centrality reveals the team's key playmaker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Xavi: highest centrality in Barcelona's tiki-taka system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Remove high-centrality player → team flow collapses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Same math as Google PageRank and social network analysis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Clubs pay for this analysis in real scouting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Secret Message Machine — Caesar Cipher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labs/caesar_cipher.py — run it and study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Understand how ord() and chr() convert letters to numbers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Encrypt 'MESSI IS GOAT' with shift=3 — predict output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Decrypt the result back — verify you get the original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Send Teacher an encrypted message — see if he can decode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encrypt() and decrypt() functions working.
Send Teacher a real secret message.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Encrypt 'ADVAITH WILL ACE NITW' and send it to Teacher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Barcelona Passing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labs/passing_network.py — install networkx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build the graph from the passing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calculate betweenness centrality for all players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Part 3: visualise the network — save the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Remove Xavi from the data and re-run. Who becomes central now?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visualised passing network chart saved as an image.
Centrality ranking printed. Discussion: what does it mean tactically?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Who is Barcelona's most important player mathematically? Does it match your intuition?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Programming Languages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Family Tree of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"Every programming language was invented to solve someone's frustration.
Here's the 70-year drama."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Language Family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FORTRAN — IBM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Scientists wanted to write math, not binary · 'Formula Translation'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 —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Dennis Ritchie needed a language to write Unix · Direct hardware control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C++ — Bjarne Stroustrup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 + objects · Organise code around real-world things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Guido van Rossum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over Christmas · Named after Monty Python · Built to be fun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 — Sun Microsystems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Write once, run anywhere · Runs on a JVM · Dominates enterprise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JavaScript — Brendan Eich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in 10 days for Netscape · Now runs servers too (Node.js)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Python Dominates AI and Data Science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📖  Readable — code reads almost like English. Researchers share it openly.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Libraries — NumPy (1995), Pandas (2008), PyTorch (2016). Built for Python first.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🌐  Community — AI research standardised on Python. All papers have Python code.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Fast enough — NumPy runs in C under the hood. Python is the interface, not the bottleneck.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Guido's rule: 'Code is read more often than it is written.' Python optimises for reading.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Result: learn Python and you can contribute to every AI library and research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network effect: Python won AI → all tutorials are Python → new researchers learn Python → all new libraries are Python. Unbreakable cycle.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Compiled vs Interpreted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⚙️ Compiled (C, C++, Rust)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Translated to machine code before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Fast at execution 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Catch errors before the program runs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Single target platform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Used for: operating systems, games, embedded systems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Edit → compile → run → test (slower cycle)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🐍 Interpreted (Python, 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Translated line by line while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Slower, but flexible and instant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Errors surface at runtime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Runs anywhere with the interpreter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Used for: data science, web, scripting, AI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Edit → run → see result immediately (fast cycle)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Fibonacci — First Standalone Python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new file: fibonacci.py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Write fibonacci_loop(n): using a for loop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fibonacci_recursive(n): function calling itself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both and compare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Add the Golden Ratio section — print ratios of consecutive terms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fibonacci.py runs without errors.
Both functions produce the same output.
Golden ratio converges to 1.618...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Fibonacci squad numbers: 1,2,3,5,8,13,21,34,55 — find real players who've worn these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with Superpowers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"Python was named after Monty Python.
Its inventor wanted programming to be fun.
Let's test that claim."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Python Is 12th-Grade Math — Just Different Notation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📐 Math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Variable: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Function:  f(x) = x²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Set: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Sequence: a₁, a₂, a₃, ...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Summation: Σaᵢ for i in A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Condition: if x &gt;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🐍 Python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def f(x): return x**2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[a1, a2, a3, ...]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sum(a) or sum(a for a in A)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if x &gt; 0: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Variables, Lists, Loops — The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Variables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player = 'Vini Jr'   # string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goals  = 24          # int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xg     = 18.3        # float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  = ['Vini', 'Bellingham', 'Mbappe']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squad[0]        # → 'Vini'  (0-indexed!)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len(squad)      # → 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Loops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for p in squad: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print(p)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Variables store values.
Lists store ordered sequences of values.
Loops repeat an action for each item.
⚠️ Python is 0-indexed:
first item = index 0
second item = index 1
This trips everyone up at first — it's normal.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Functions and Imports — Reuse and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Functions — exactly like f(x) in math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rate_season(goals, assists):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total = goals + assists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if total &gt; 30: return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elif total &gt; 20: return 'Good'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else: return 'Average'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print(rate_season(24, 11))  # →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Imports — use other people's code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matplotlib.pyplot as plt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 = np.linspace(0, 10, 100)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plt.plot(x, np.sin(x))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plt.show()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def creates a reusable block — just like defining f(x) in math.
Imports let you use libraries:
numpy → math operations on arrays (like matrices)
matplotlib → graphs and charts
pandas → tables of data (like Excel in Python)
These three libraries power almost all data science.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Math Waves — Plot Functions from 12th 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labs/lab1_math_waves.py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 — Python as a calculator (verify familiar results)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 — plot sin(x) and cos(x) on the same graph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Understand every line: np.linspace, plt.plot, plt.show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 — plot the quadratic x²-5x+6 with roots marked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matplotlib windows open:
1. Sin and cos wave plot
2. Quadratic with roots at x=2 and x=3 highlighted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Challenge: plot the derivative of sin(x). It should look like cos(x) — verify visually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Guessing Game — Binary Search in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labs/lab2_guessing_game.py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Play the game: find the secret number, count your attempts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Try to beat it in 7 guesses (it's possible — here's how)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Watch binary_search_strategy() run — always guess the middle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Teacher explains: this is O(log n) — 1,000 numbers in 10 guesses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Play the game yourself first.
Watch the binary search demo.
Understand why log₂(1000) ≈ 10.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Binary search is how NBA databases find any player instantly among millions of records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Top Scorers Dashboard — NBA + Soccer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labs/lab3_top_scorers.py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FIRST: change all player names and stats to your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it — two charts appear side by side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Left chart: soccer goals + assists bar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Right chart: basketball PPG vs APG scatter plot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charts saved as top_scorers.png
the student's own favourite players, his own data.
Send it to friends — it looks professional.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 YOUR players — Mbappe, Luka, Vini, Giannis — whoever you actually watch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Dice Simulator — Law of Large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labs/lab4_dice_simulator.py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it — 4 histograms appear (10, 100, 1000, 10000 rolls)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Observe: 10 rolls looks lumpy, 10,000 rolls looks flat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free throw simulation at the bottom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Discussion: what does this tell us about 5-game slumps in sports?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 histograms in a grid — showing convergence to flat distribution.
Free throw simulation showing how sample size affects accuracy.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Why a 5-game slump means nothing statistically. Why a full 82-game NBA season tells you everything.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4 —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Pick TWO lab challenge prompts and complete them. Bring the code and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Build a match stats tracker — input 5 results, print wins/draws/losses, goals scored/conceded, goal difference, 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Update lab3_top_scorers.py to include 10 players (5 soccer + 5 basketball). Add minutes played and compute goals per 90.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many guesses does binary search need for 1 billion records? Why does Google Search return results in 0.5 seconds? Connect to Big-O.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Engine Behind Every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"Netflix, Spotify, ChatGPT — they all reduce to three things
from your 12th-grade textbook: calculus, linear algebra, probability."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Vectors and Matrices — Neural Networks Are Matrix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📐  A vector = a list of numbers. Player stats: [goals, assists, xG, minutes] = [24, 11, 18.3, 2650]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Dot product: [1,2,3]·[4,5,6] = 1×4 + 2×5 + 3×6 = 32. Core operation of every neural network.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Matrix = a grid of numbers. A neural network 'layer' = matrix × input vector + bias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🔄  Matrix multiplication: transform one vector into another. Each layer reshapes the data.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The entire forward pass of GPT-4 = billions of matrix multiplications happening in parallel on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Student already knows vectors from 12th-grade physics. He already knows matrix multiplication.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whole secret of neural networks: output = matrix × input + bias. Repeated many times. That's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Gradient Descent — How AI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🎯  Learning = finding parameters that minimise a 'loss function' (how wrong we are)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📉  Loss function measures the gap between prediction and truth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The derivative tells us the slope at any point — which direction is downhill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⬇️  Move the parameters in the downhill direction → predictions improve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thousands of times → the model 'rolls downhill' to the minimum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ChatGPT's training: gradient descent in a space with 175 billion dimensions, for months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Sports analogy: gradient descent is a player watching game film, finding one specific weakness, correcting it, repeat. Each correction = one gradient step.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Probability &amp; Statistics — How AI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📊 Key Stats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Mean — average outcome (expected goals per season)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Variance — spread around the mean (consistency)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Std deviation — √variance (volatility = risk)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Correlation — how two variables move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Normal distribution — the bell curve, appears everywhere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Bayes' Theorem — update probability when new evidence arrives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Sports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xG — expected goals is a probability: 0.0 → 1.0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Free throw % — probability of making each shot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'He's due a goal' — Bayes says NO. Each shot is independent.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Injury prediction — correlation between workload and injury risk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Player valuation — regression model on stats and performance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Scouting — find players whose stats exceed their reputation (undervalued)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xG (Expected Goals)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labs/xg_model.py — read the shot data at the top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2: plot Goals vs Distance (scatter plot)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plot Distance + Angle coloured by outcome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Identify the pattern — draw a curve through the data by hand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3: use estimate_xg() on famous shots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Check: what does the model say about Mbappe vs Argentina?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scatter plots showing the xG pattern.
Famous shot analysis printed.
Mbappe's goal: xG = 0.08 (8% chance — he scored it anyway).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That 0.08 xG goal is why Mbappe is Mbappe. The model quantifies what the eye already knew.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5 — Math &amp; Stats for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Extend estimate_xg() with two new features (e.g., header vs foot, counter-attack). Test on 5 famous shots. Did scores change?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Calculate dot products by hand: [3,4]·[1,2], [1,0,0]·[5,3,7], [2,3,1]·[2,3,1]. Verify with numpy.dot(). What is a vector dotted with itself?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Compute correlation between goals and xG for 10 players. Plot goals vs xG scatter. Add y=x line. Who overperforms xG most?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In 2 sentences, explain local minimum vs global minimum using a basketball analogy.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3AA7D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SESSION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Thing That Changes Everything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2022, an AI passed the bar exam and aced the SAT.
In 2025, AI agents book meetings, write code, and run workflows.
You're building one today."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70 Years of AI — The Story So Far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Rule-Based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Programmers write every rule by hand · Works for chess, fails for reality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Statistical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Algorithms learn patterns from examples · Spam filters, credit scoring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Deep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AlexNet wins ImageNet · Neural nets learn their own features · Game changer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'Attention Is All You Need'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Transformer architecture · Parallel training · Scales to any size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1M users in 5 days · 100M in 2 months · Fastest adoption in history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AI that reasons, uses tools, takes actions · The era Student enters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Transformers — Why Everything Changed in 2017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🧠  Attention mechanism — model learns which parts of input to focus on for each output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Parallel training — unlike previous RNNs, Transformers train all tokens simultaneously → can use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Scale — bigger model + more data + more compute → dramatically better results (scaling laws)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GPT-3 (2020): 175 billion parameters · Trained on most of the internet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💬  Emergent behaviour — nobody programmed GPT-3 to translate or write code · It learned from scale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🏗️  Every major AI today — GPT, Claude, Gemini, Llama — is a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2017 paper 'Attention Is All You Need' by Google Brain has been cited 100,000+ times. It changed AI as completely as transistors changed hardware.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Chatbot vs Agent — A Fundamental Difference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</a:rPr>
              <a:t>💬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question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Generates an answer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turn → done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Passive — waits for instructions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tools, no memory beyond the conversation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texting someone a question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🤖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goal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Plans the steps to achieve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Uses tools (search, code, APIs)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memory across sessions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Takes real actions in the world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hiring a contractor to get something done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Claude API — 8 Lines to a Working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anthropic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 = anthropic.Anthropic()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response = client.messages.create(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model="claude-opus-4-7",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max_tokens=300,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system="You are a sharp sports analyst.",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messages=[{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"role": "user",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"content": "Analyse Vinícius Jr"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}]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print(response.content[0].text)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model = the brain
system = the personality
messages = the memory
max_tokens = maximum length
Change system from 'sharp analyst' to 'harsh critic' to 'fanboy' — same model, completely different personality.
The system prompt is a dial. Experiment with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the Sports Analyst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labs/sports_analyst.py — set ANTHROPIC_API_KEY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one-shot analysis of any player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same player, three different personas — compare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Part 3: understand conversation_history (this IS memory)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the scripted multi-turn demo — watch it remember 'him'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Challenge: add debate mode — agent argues Player A &gt; Player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sports analyst responding to real queries.
Persona experiment: 3 different voices, same player.
Multi-turn demo showing memory across turns.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Ask it about Mbappe, Luka, Vini, Bellingham — then ask it to compare them to legends at the same age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6 —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debate_mode(player1, player2) — agent picks a side, gives 3 arguments. Test: Mbappe vs Haaland, Luka vs SGA.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Feed your Session 4 player stats into the agent. Ask: who is over/under-performing their xG? Is the AI's answer correct?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Try 3 very different system prompts for the same question. Which was most useful? Which was most entertaining?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 (Think): GPT-4 passed the bar exam. Does that mean it 'understands' law? Write 4–6 sentences on your view.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78B1A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SESSION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Quant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Hedge Funds Are Just Applied Math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1988, mathematicians left academia to start a hedge fund.
No traders. No finance degrees. Just math people.
They made $100 billion."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Renaissance Technologies — The Greatest Trade Ever Made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🧮  Jim Simons: mathematician, Cold War codebreaker, MIT professor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🏦  1988: founded Renaissance Technologies — hired physicists and mathematicians, no traders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Medallion Fund: 66% average annual return for 30 years (before fees)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average: ~10% per year. Medallion: 66%. No other fund comes close.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Medallion closed to outside investors in 1993 — too profitable to share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🧩  Secret: treat financial markets like a physics problem. Find patterns others can't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same skills: linear algebra, probability, Python, time series analysis — used in AI and in quant finance. The tools are identical. The data is different.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Returns and Volatility — The Two Core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yfinance as yf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Download 3 years of Man United data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manu = yf.Ticker('MANU').history(period='3y')['Close']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Daily return = % change each day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returns = manu.pct_change().dropna()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Annualise (252 trading days/year)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annual_return = returns.mean() * 252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annual_vol    = returns.std() * np.sqrt(252)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print(f'Return:     {annual_return:.1%}')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print(f'Volatility: {annual_vol:.1%}')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Return = how much you made.
Volatility = how much it swings.
Volatility = standard deviation of returns.
High volatility = risky investment.
A consistent player scoring 20 goals every season has LOW volatility.
A player scoring 35 one year and 8 the next has HIGH volatility.
Would you sign the volatile player? Depends on the price.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Markowitz + Sharpe — Two Nobel Prize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Portfolio theory (Markowitz, 1952): diversification reduces risk without reducing return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🔗  If two assets are uncorrelated, holding both lowers total portfolio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➗  Sharpe Ratio = (Return − Risk-Free Rate) /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Sharpe &gt; 1.0 = good · Sharpe &gt; 2.0 = excellent · Renaissance Medallion = ~2.0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Sharpe ≈ 0.5. Most hedge funds: 0.3–0.8. Renaissance: off the chart.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  Transfer budget as a portfolio: buy uncorrelated players (different positions, risk profiles)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Sharpe Ratio appears in every investment discussion. Learn to interpret it: 'How much return am I getting per unit of risk I'm taking?'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Black-Scholes — The Equation That Won the Nobel Prize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📜  Fischer Black and Myron Scholes (1973): formula to price options on stocks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❓  An option = the right (not obligation) to buy a stock at a fixed price in the future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The formula uses: logarithms, exponentials, normal distribution, partial derivatives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Every single symbol in Black-Scholes is something Student already knows from 12th grade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This formula governs a $10 trillion global derivatives market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Scholes won the Nobel Prize in Economics for it (Black had died by then)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write the Black-Scholes formula on a whiteboard. Point to each symbol. 'You know this. This. And this. All of it.' This is the moment.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Man United Stock Analysis — Real Financial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labs/stock_analysis.py and run it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Watch MANU, AAPL, NVDA download — 3 years of real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 the MANU chart: find the Nov 2022 Glazers-for-sale spike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Sharpe Ratio table — which has the best risk-adjusted return?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Study the correlation matrix — which two assets are least correlated?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Three price history charts saved.
Sharpe Ratio comparison table printed.
Correlation matrix printed.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Man United: same numbers, two answers. Good for Glazers (3× return). Bad for fans (debt killed transfers).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7 — Quant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two new tickers (Nike NKE, EA Sports, MSG Sports). Calculate their Sharpe Ratio. Does adding them to a portfolio with MANU reduce risk?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Transfer Budget Model — 3 striker options with fees, goals, injury days. Compute mean goals, std deviation, goals/£M. Build a Sharpe-like ratio. Who do you sign?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Research: what is Renaissance Technologies' average annual return? Why did they close to outside investors in 1993?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is building an xG model similar to a trading strategy? How could your Session 6 agent be used in quant trading? What risks would you worry about?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EB1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</a:rPr>
              <a:t>SESSION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Build Something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"Eight sessions of learning.
One rule: every line of code you write, you can explain.
That's all."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A — The Oracle: AI Stock Analysis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Input: a stock ticker. Output: an AI-generated investment thesis.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📥  Download price data with yfinance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Calculate: annual return, volatility, Sharpe Ratio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Feed stats to Claude API → generates 3-paragraph plain-English analysis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API), 7 (finance metrics)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type 'MANU' → full analysis appears in 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3-day build: Day 3 → get_stock_stats() working · Day 4 → Claude API connected · Day 5 → polish and error handling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B — NeuralNet from Zero: Digit Recognition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🖊️  Train a neural network to recognise handwritten digits (0–9)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🚫  Rules: NO PyTorch, NO TensorFlow, NO scikit-learn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Tools allowed: NumPy only — every operation is visible, explainable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Architecture: 784 inputs (28×28 pixels) → 64 hidden units → 10 outputs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Target accuracy: &gt;85% on test set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 + NumPy), 5 (gradient descent, matrix math)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This is the hardest track. But if Student can explain how a neural network learns from scratch, he understands something most CS graduates can't.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C — The Tutor Bot: AI That Teaches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📚  User chooses a topic: derivatives, probability, linear algebra, etc.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AI explains the concept at the right level (system prompt controls depth)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AI generates a practice problem tailored to the topic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User submits an answer → AI gives feedback and adjusts difficulty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Loop continues — getting harder or easier based on performance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 + multi-turn memory)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Meta-moment: Student is building a system that does what Teacher has been doing. The student builds the teacher.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D — The Sports Oracle  ⭐ Recommended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Load real soccer + basketball player data (CSV provided)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Compute: goal contributions, goals per 90, xG over/under-performance, efficiency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Plot: 3 charts — goals bar chart, goals vs assists scatter, xG comparison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Claude API summarises the 3 most interesting findings in the data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running program → charts open → AI commentary prints below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2 (stats), 4 (Python + pandas), 5 (xG), 6 (Claude API)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Starter file: sports_dashboard_starter.py — skeleton with empty functions. Student fills them in using what he learned.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the Capstone Week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🗓️ 7-Day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Day 1–2: Scope and scaffold with Teacher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Pick track, define functions, create skeleton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Student leaves with something that runs (even if empty)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3–5: Student builds independently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Teacher available to unblock — NOT to write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6: Code review session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Teacher reviews like a senior engineer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One improvement implemented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7: Demo 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🎤 Demo Day (5 minutes)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0:00–2:00  Live demo — show the full program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2:00–3:00  Explain one piece of code line by line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3:00–4:00  What surprised you during building?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4:00–5:00  What would you add if you had one more week?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Teacher asks 3 questions: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Walk me through what happens when [input]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What would break this with different data?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Which session did you use most?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89869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</a:rPr>
              <a:t>SESSION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Software Engineering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How the Profession Evolved: 2010 →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2010 you deployed by copying files to a server manually.
In 2026 AI writes your code and your infrastructure auto-heals.
Same job title. Completely different world."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Foundation Years — 2010 to 2014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2010  Java + OOP + Web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Java: the dominant enterprise language — still runs most banking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OOP: organise code around objects (a Player has goals and can shoot())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HTML/CSS/JavaScript: what users see, style, and interact with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Server-side: request → query database → return HTML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model: learn one language deeply. Mastery mattered.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2014  SPA +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SPA (Single-Page Application): page loads once, content swaps dynamically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React / Angular / Vue: frameworks managing SPA complexity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You saw SPAs in DevTools: those XHR calls are SPAs talking to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TypeScript: JavaScript with type hints — catches bugs before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Frontend became a serious engineering specialisation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Instagram, YouTube, Gmail — all SPAs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Scaling Up — 2015 to 2016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2015  Spring Boot + REST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Spring Boot: a framework that wires up a backend with minimal config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REST API: standard contract using HTTP verbs (GET, POST, PUT, DELETE)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When your sports_analyst.py calls Claude, it makes a REST POST request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Enterprise patterns: dependency injection, ORMs, middleware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Backend = assembling components, not building from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2016  Microservices + DevOps +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Microservices: split one big app into many small independent services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has ~700 microservices. Each team deploys independently.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Docker: package app + dependencies into a container — runs anywhere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CI/CD: push code → tests run automatically → deploy to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DevOps: developers own deployment. No more 'throw it over the wall.'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deploys thousands of times per day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At Scale — 2017 to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2017  Cloud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AWS / Azure / GCP: rent compute, storage, networking — pay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data centre, no hardware, no cooling — just an API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Lambda: run code without managing a server (serverless)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S3: store any file. RDS: managed database. CDN: files served globally.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2-person startup can now serve millions on the same infra as Netflix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Infrastructure as Code: describe your servers in code. Version-controlled.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2020  Kubernetes + Observability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Kubernetes (K8s): declare 'I want 5 copies of this service running always'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K8s handles: starting containers, restarting crashes, routing traffic, scaling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Observability: when 700 microservices exist, how do you find what's broken?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Logs: every service writes what it did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Metrics: numbers over time — request rate, error rate, response time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Tracing: follow one user request across all 12 services it touched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Present and Future — 2023 to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2023  Platform Engineering +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Every team rebuilding the same CI/CD pipeline = massive waste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Platform team builds a 'golden path': opinionated, pre-built way to ship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New developer joins → clone template → one command → full service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Shift-left security: find vulnerabilities in the IDE, not in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Automated scanners check every pull request before it merges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'Platform engineers build the tools that make everyone else go faster'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2026  AI-Native Engineering  ← You Are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Code copilots: AI writes first drafts, you review and direct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Agentic workflows: AI takes multi-step actions autonomously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LLM apps: AI is the core feature, not an add-on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Engineers using AI tools write 2–5× more code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Skills that matter more: judgment, system design, knowing when AI is wrong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Student enters engineering when it is being reinvented. No habits to unlearn.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Every Request You Make Travels Through All of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61872"/>
            <a:ext cx="7772400" cy="5486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SPA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3, 2014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810512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20240"/>
            <a:ext cx="777240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REST API /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4, 2015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2468880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578608"/>
            <a:ext cx="777240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883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15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5, 2016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127248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236976"/>
            <a:ext cx="7772400" cy="5486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4670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Kubernetes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3741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7, 2020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785616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895344"/>
            <a:ext cx="777240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Cloud (AWS / GCP)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0325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6, 2017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443984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553712"/>
            <a:ext cx="777240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663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Layer (LLM Agent)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90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← When you opened Instagram this morning, your request passed through all of these layers.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What Success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325880"/>
            <a:ext cx="100584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72768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FFFF"/>
                </a:solidFill>
              </a:rPr>
              <a:t>At the start of this curriculum, Student had never written a line of code.
By Demo Day, he can sit down at a keyboard, build a Python program that
downloads real data, computes statistics, plots charts, and calls an AI API —
and explain every single line he wrote.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005072"/>
            <a:ext cx="100584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Zero lines of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20624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206240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4 Python projects + AI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81728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Math = school exercises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681728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81728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Math = the language of computing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57216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AI = magic black 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157216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157216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AI = built one from an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32704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Finance = news headlines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632704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632704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Finance = Sharpe, Markowitz, real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</a:rPr>
              <a:t>⚽  🏀  Let's go, Student.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4480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306C"/>
                </a:solidFill>
              </a:rPr>
              <a:t>SESSION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Instagram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Billion-Dollar App You Use Without Thinking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30 seconds of scrolling,
hundreds of servers worked for you."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Happens When You Scroll?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Authenticate — server checks your login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Rank — ML model scores thousands of candidate posts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Fetch — images loaded from CDN servers near you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Predict — algorithm guesses which posts you'll like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⏱️  Measure — every pause, zoom, and skip is recorded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Auction — an ad slot is won by the highest bidder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of this happens in under 200 milliseconds. Every time.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Journey of Your Photo (Post to Feed)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Tap 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Phone →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HTTP POST with JPEG + caption + auth token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Media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Creates 4 versions: 150px thumb, 640px, 1080px, 1920px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Amazon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4 versions stored permanently  ·  100+ billion photos total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CDN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Edge 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URLs pushed to 200+ nodes globally — Mumbai serves Mumbai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PostgreSQL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post ID, user ID, timestamp, caption, location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Fan-out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Kafka queue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Notification task created for every follower in parallel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Feed Algorithm — How Posts Are Ranked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What the model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Past likes — have you liked this account before?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Watch time — how long do you pause on their posts?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DM frequency — do you message them?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— when was this posted?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— is it going viral globally?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What the algorithm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Interest score: your history with this account (40%)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Relationship score: closeness (DMs, tags, etc.) (30%)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score: freshness decay over time (20%)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score: global engagement (10%)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action you take is training data for this model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Three Content Types — Three Different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Posts  (permanent)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Stored forever in Amazon S3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Indexed in PostgreSQL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Shown in feed + profile grid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get likes for years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Low urgency — durability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Stories / Reels  (ephemeral + viral)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Stories: 24-hour TTL, auto-deleted from DB + CDN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multi-resolution video (360p / 720p / 1080p)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Adaptive bitrate: phone switches quality on 4G vs WiFi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separate recommendation engine (like TikTok)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Reel from a nobody can reach 1 million people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It Handles 500 Million Daily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The scale (at peak)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1 million photo uploads per minute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4.2 billion likes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100 million Stories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single server handles ~1,000 req/sec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 uses thousands of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Auto-scaling: more servers at 8 PM Friday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The microservices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auth-service — checks your login token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media-service — stores + serves photos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feed-service — builds your ranked feed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ml-ranking-service — scores posts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ads-service — runs the ad auction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notification-service — push alerts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Instagram's Feed Algorithm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user profile dict with past_likes, watch_time, dm_frequency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Define 8 raw posts with from, age_minutes, global_likes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rank_post() using weighted formula (interest 40%, relationship 30%...)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Sort posts by score descending — that's your ranked feed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Simulate CDN fetch with latency by nearest node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Change weights and see how the feed order changes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Ranked feed printed to terminal
showing why each post ranks where it does.
Like an action → model updates,
feed re-ranks next scroll.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Kevin Systrom built the first Instagram in 13 days using Python. It sold for $1 billion. Same language you've been learning all month.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